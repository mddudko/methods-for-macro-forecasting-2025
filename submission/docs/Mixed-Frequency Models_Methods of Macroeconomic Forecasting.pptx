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C_FAE7809D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7"/>
  </p:notesMasterIdLst>
  <p:sldIdLst>
    <p:sldId id="256" r:id="rId2"/>
    <p:sldId id="261" r:id="rId3"/>
    <p:sldId id="257" r:id="rId4"/>
    <p:sldId id="263" r:id="rId5"/>
    <p:sldId id="267" r:id="rId6"/>
    <p:sldId id="258" r:id="rId7"/>
    <p:sldId id="268" r:id="rId8"/>
    <p:sldId id="264" r:id="rId9"/>
    <p:sldId id="323" r:id="rId10"/>
    <p:sldId id="332" r:id="rId11"/>
    <p:sldId id="338" r:id="rId12"/>
    <p:sldId id="314" r:id="rId13"/>
    <p:sldId id="289" r:id="rId14"/>
    <p:sldId id="324" r:id="rId15"/>
    <p:sldId id="291" r:id="rId16"/>
    <p:sldId id="292" r:id="rId17"/>
    <p:sldId id="293" r:id="rId18"/>
    <p:sldId id="294" r:id="rId19"/>
    <p:sldId id="307" r:id="rId20"/>
    <p:sldId id="296" r:id="rId21"/>
    <p:sldId id="308" r:id="rId22"/>
    <p:sldId id="297" r:id="rId23"/>
    <p:sldId id="274" r:id="rId24"/>
    <p:sldId id="329" r:id="rId25"/>
    <p:sldId id="278" r:id="rId26"/>
    <p:sldId id="284" r:id="rId27"/>
    <p:sldId id="259" r:id="rId28"/>
    <p:sldId id="265" r:id="rId29"/>
    <p:sldId id="322" r:id="rId30"/>
    <p:sldId id="286" r:id="rId31"/>
    <p:sldId id="327" r:id="rId32"/>
    <p:sldId id="328" r:id="rId33"/>
    <p:sldId id="340" r:id="rId34"/>
    <p:sldId id="341" r:id="rId35"/>
    <p:sldId id="342" r:id="rId36"/>
    <p:sldId id="343" r:id="rId37"/>
    <p:sldId id="344" r:id="rId38"/>
    <p:sldId id="345" r:id="rId39"/>
    <p:sldId id="349" r:id="rId40"/>
    <p:sldId id="347" r:id="rId41"/>
    <p:sldId id="348" r:id="rId42"/>
    <p:sldId id="321" r:id="rId43"/>
    <p:sldId id="283" r:id="rId44"/>
    <p:sldId id="317" r:id="rId45"/>
    <p:sldId id="316" r:id="rId46"/>
    <p:sldId id="318" r:id="rId47"/>
    <p:sldId id="320" r:id="rId48"/>
    <p:sldId id="276" r:id="rId49"/>
    <p:sldId id="319" r:id="rId50"/>
    <p:sldId id="325" r:id="rId51"/>
    <p:sldId id="326" r:id="rId52"/>
    <p:sldId id="315" r:id="rId53"/>
    <p:sldId id="260" r:id="rId54"/>
    <p:sldId id="350" r:id="rId55"/>
    <p:sldId id="333" r:id="rId56"/>
    <p:sldId id="339" r:id="rId57"/>
    <p:sldId id="302" r:id="rId58"/>
    <p:sldId id="271" r:id="rId59"/>
    <p:sldId id="262" r:id="rId60"/>
    <p:sldId id="285" r:id="rId61"/>
    <p:sldId id="311" r:id="rId62"/>
    <p:sldId id="309" r:id="rId63"/>
    <p:sldId id="310" r:id="rId64"/>
    <p:sldId id="330" r:id="rId65"/>
    <p:sldId id="331" r:id="rId6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6B9B3B8-E8A7-7C48-9578-AACF2DC9A203}">
          <p14:sldIdLst>
            <p14:sldId id="256"/>
          </p14:sldIdLst>
        </p14:section>
        <p14:section name="Summary Section" id="{C4CA3B2B-B1C0-4F42-84A5-6154E501C626}">
          <p14:sldIdLst>
            <p14:sldId id="261"/>
          </p14:sldIdLst>
        </p14:section>
        <p14:section name="Problem &amp; Approach" id="{1AD3CF67-E368-B844-8E3E-27CF9EA1D091}">
          <p14:sldIdLst>
            <p14:sldId id="257"/>
            <p14:sldId id="263"/>
            <p14:sldId id="267"/>
          </p14:sldIdLst>
        </p14:section>
        <p14:section name="Data &amp; Methodology" id="{AE2523E6-AA9A-C14A-AB65-9D490CD5D0DE}">
          <p14:sldIdLst>
            <p14:sldId id="258"/>
            <p14:sldId id="268"/>
            <p14:sldId id="264"/>
            <p14:sldId id="323"/>
            <p14:sldId id="332"/>
            <p14:sldId id="338"/>
            <p14:sldId id="314"/>
            <p14:sldId id="289"/>
            <p14:sldId id="324"/>
            <p14:sldId id="291"/>
            <p14:sldId id="292"/>
            <p14:sldId id="293"/>
            <p14:sldId id="294"/>
            <p14:sldId id="307"/>
            <p14:sldId id="296"/>
            <p14:sldId id="308"/>
            <p14:sldId id="297"/>
            <p14:sldId id="274"/>
            <p14:sldId id="329"/>
            <p14:sldId id="278"/>
            <p14:sldId id="284"/>
          </p14:sldIdLst>
        </p14:section>
        <p14:section name="Results" id="{F58BCF7F-F411-AA43-9A8B-1079EAF74D98}">
          <p14:sldIdLst>
            <p14:sldId id="259"/>
            <p14:sldId id="265"/>
            <p14:sldId id="322"/>
            <p14:sldId id="286"/>
            <p14:sldId id="327"/>
            <p14:sldId id="328"/>
            <p14:sldId id="340"/>
            <p14:sldId id="341"/>
            <p14:sldId id="342"/>
            <p14:sldId id="343"/>
            <p14:sldId id="344"/>
            <p14:sldId id="345"/>
            <p14:sldId id="349"/>
            <p14:sldId id="347"/>
            <p14:sldId id="348"/>
            <p14:sldId id="321"/>
            <p14:sldId id="283"/>
            <p14:sldId id="317"/>
            <p14:sldId id="316"/>
            <p14:sldId id="318"/>
            <p14:sldId id="320"/>
            <p14:sldId id="276"/>
            <p14:sldId id="319"/>
            <p14:sldId id="325"/>
            <p14:sldId id="326"/>
            <p14:sldId id="315"/>
          </p14:sldIdLst>
        </p14:section>
        <p14:section name="Interpretation &amp; Takeaways" id="{1540D386-E8E1-CD46-9D62-B71FEDE3C892}">
          <p14:sldIdLst>
            <p14:sldId id="260"/>
            <p14:sldId id="350"/>
            <p14:sldId id="333"/>
            <p14:sldId id="339"/>
            <p14:sldId id="302"/>
            <p14:sldId id="271"/>
            <p14:sldId id="262"/>
            <p14:sldId id="285"/>
            <p14:sldId id="311"/>
            <p14:sldId id="309"/>
            <p14:sldId id="310"/>
            <p14:sldId id="330"/>
            <p14:sldId id="33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96AF6C-0822-2320-E64D-0291FB0E0CBA}" name="Dudko  Michal" initials="MD" userId="S::mdudko@ethz.ch::19ea8be3-fcbd-492f-9a3b-c169021ad9e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448506-3F53-4846-9F03-8B28C7E20345}" v="1" dt="2025-11-20T07:01:12.283"/>
    <p1510:client id="{1659D202-664F-6549-9E9E-D9299A9B9C0F}" v="1942" dt="2025-11-20T08:53:52.674"/>
    <p1510:client id="{8C032C7C-EE66-A825-FFC1-C97AED2BFE7D}" v="1515" dt="2025-11-19T21:03:15.030"/>
    <p1510:client id="{CEBEEB60-810C-3ABA-6D64-FE8B93092B0E}" v="1324" dt="2025-11-19T23:25:04.0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88"/>
    <p:restoredTop sz="94645"/>
  </p:normalViewPr>
  <p:slideViewPr>
    <p:cSldViewPr snapToGrid="0">
      <p:cViewPr>
        <p:scale>
          <a:sx n="109" d="100"/>
          <a:sy n="109" d="100"/>
        </p:scale>
        <p:origin x="17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ableStyles" Target="tableStyles.xml"/></Relationships>
</file>

<file path=ppt/comments/modernComment_10C_FAE7809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C04062-0BA8-3948-86D4-EBF071AE0B5F}" authorId="{CB96AF6C-0822-2320-E64D-0291FB0E0CBA}" created="2025-11-19T21:37:26.67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4209475741" sldId="268"/>
      <ac:spMk id="3" creationId="{9DC02594-BBEA-A88D-0DA8-9F9C35D37019}"/>
      <ac:txMk cp="11" len="1">
        <ac:context len="254" hash="3860526674"/>
      </ac:txMk>
    </ac:txMkLst>
    <p188:pos x="3191009" y="248401"/>
    <p188:txBody>
      <a:bodyPr/>
      <a:lstStyle/>
      <a:p>
        <a:r>
          <a:rPr lang="en-GB"/>
          <a:t>oder lieber KOF?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5A299F-741F-0844-AB4D-655423E984EC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22158-F3FF-AF42-A6AC-3B8878221E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805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6824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3254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EFEB1-910B-562B-DD10-4BC64BF97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A535-C3CD-59F5-5FC8-7599EF97B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4F3D28-B9CA-49CE-9C34-90C1314B9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7EAB8-D707-154F-1C63-F3D76709A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8822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BEB1D-3261-347F-91D1-BAEAD6506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CEEF6-0FC2-7EDC-A61C-1214E73C2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90016-2F40-D453-2755-6438776A1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9205F-89DD-4E64-91F4-E1A24B2FE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4646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DBA25-B26C-9F6D-5AAC-2A88030AA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3DAE72-C80D-10DB-DA32-2C9351AE2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1B3BF-7FFC-E97A-47F2-E61FAC77B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Alles bis </a:t>
            </a:r>
            <a:r>
              <a:rPr lang="en-GB" err="1"/>
              <a:t>hier</a:t>
            </a:r>
            <a:r>
              <a:rPr lang="en-GB"/>
              <a:t> Minna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44BD6-8FEB-A850-DA77-7D474302A6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61749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35D3A-56CF-4E1A-AD93-A9FCF305B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358C0B-67F2-B985-D008-5F25262322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B66955-5CE5-02B9-89ED-1C951D24F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Alles bis </a:t>
            </a:r>
            <a:r>
              <a:rPr lang="en-GB" err="1"/>
              <a:t>hier</a:t>
            </a:r>
            <a:r>
              <a:rPr lang="en-GB"/>
              <a:t> Minna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955F2-88CD-320E-1213-ECB347A9F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567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14047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549CA-1C24-86A5-BB57-D4D40D17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0B09FD-B01E-1CF9-A567-7655758AD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A3585-5DDF-3229-64F4-0DBDF025C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81F36F-2316-F9C8-7B85-ACB745AE40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1123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21263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Minna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557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86374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6FF28-7ECE-9881-9548-F4937CE1A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9D0E1F-2B29-8E12-CBA7-B085C05F75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76524E-5EA7-05C8-0A1E-3ED8F2A6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572A7-9F7A-EC8C-8CEB-BCB1503077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5158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2507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err="1"/>
              <a:t>Wichtig</a:t>
            </a:r>
            <a:r>
              <a:rPr lang="en-GB"/>
              <a:t> </a:t>
            </a:r>
            <a:r>
              <a:rPr lang="en-GB" err="1"/>
              <a:t>zum</a:t>
            </a:r>
            <a:r>
              <a:rPr lang="en-GB"/>
              <a:t> </a:t>
            </a:r>
            <a:r>
              <a:rPr lang="en-GB" err="1"/>
              <a:t>abschluss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1979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State Secretariat for Economic Affairs from this Monday.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4049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34694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3DF01-3D53-A785-76A4-E451AA053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8F438-4B37-48AD-CF69-74406826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81794-AD4F-378E-C3A4-8B474297A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EE5FA-2382-4950-7419-CB289D3150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7563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D2D19-71F6-B70E-3591-090284E8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7E4F8-BA2D-AB1E-B2AC-D404F3522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EDD2F-23C7-BE2D-E982-B0A81B837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9D1120-F59A-3682-C25B-F25AA68B68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654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40075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  <p15:guide id="5" pos="61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525540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4132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289209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365583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562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841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69823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2872846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97925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8754197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1102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689856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2451565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en-GB" noProof="0"/>
              <a:t>Click icon to add table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553981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08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55976-E6F8-3A1E-F7E8-187ECF1D0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AA1F19-C554-B28C-BC81-E979979D1C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2843F3-C22D-BCFD-2C77-BE0799152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214EA-7E10-E777-CD82-2E954E7FE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1A5F6-6F87-6732-EF6E-6286FA83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773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BA591ACA-88FD-2949-87D3-1AEA5F98A96F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547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>
          <p15:clr>
            <a:srgbClr val="F26B43"/>
          </p15:clr>
        </p15:guide>
        <p15:guide id="3" pos="7219">
          <p15:clr>
            <a:srgbClr val="F26B43"/>
          </p15:clr>
        </p15:guide>
        <p15:guide id="4" orient="horz" pos="164">
          <p15:clr>
            <a:srgbClr val="F26B43"/>
          </p15:clr>
        </p15:guide>
        <p15:guide id="5" orient="horz" pos="890">
          <p15:clr>
            <a:srgbClr val="F26B43"/>
          </p15:clr>
        </p15:guide>
        <p15:guide id="6" orient="horz" pos="4201">
          <p15:clr>
            <a:srgbClr val="F26B43"/>
          </p15:clr>
        </p15:guide>
        <p15:guide id="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7.xml"/><Relationship Id="rId3" Type="http://schemas.openxmlformats.org/officeDocument/2006/relationships/image" Target="../media/image8.png"/><Relationship Id="rId7" Type="http://schemas.openxmlformats.org/officeDocument/2006/relationships/slide" Target="slide6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slide" Target="slide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slide" Target="slide5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C_FAE7809D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kargren/mfbvar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ddudko/methods-for-macro-forecasting-2025/tree/main/submission" TargetMode="Externa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68E06-ECAA-64A1-C502-7FA317AADF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noProof="0"/>
              <a:t>Mixed-Frequency Forecasting</a:t>
            </a:r>
            <a:br>
              <a:rPr lang="en-GB" noProof="0"/>
            </a:br>
            <a:r>
              <a:rPr lang="en-GB" noProof="0"/>
              <a:t>MIDAS vs MF-VAR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93D0B1-DF4E-52A7-3DAF-C9889B134A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/>
              <a:t>Minna Heim, Samuel Bartlett, Michal Dudko</a:t>
            </a:r>
          </a:p>
          <a:p>
            <a:endParaRPr lang="en-GB" noProof="0"/>
          </a:p>
          <a:p>
            <a:r>
              <a:rPr lang="en-GB" sz="1400" noProof="0"/>
              <a:t>Methods of Macroeconomic Forecasting – HS 2025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9DC565-1C07-2980-F225-80B8B2ADE38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0216E3-D026-E10B-6560-F6892FE645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6010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>
                <a:extLst>
                  <a:ext uri="{FF2B5EF4-FFF2-40B4-BE49-F238E27FC236}">
                    <a16:creationId xmlns:a16="http://schemas.microsoft.com/office/drawing/2014/main" id="{9B4F8477-6FD4-FEBF-3838-D5DAD788F82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1912688"/>
                  </p:ext>
                </p:extLst>
              </p:nvPr>
            </p:nvGraphicFramePr>
            <p:xfrm>
              <a:off x="-312057" y="-293915"/>
              <a:ext cx="12816114" cy="7445829"/>
            </p:xfrm>
            <a:graphic>
              <a:graphicData uri="http://schemas.microsoft.com/office/powerpoint/2016/summaryzoom">
                <psuz:summaryZm>
                  <psuz:summaryZmObj sectionId="{1AD3CF67-E368-B844-8E3E-27CF9EA1D091}">
                    <psuz:zmPr id="{6C9C056D-3C16-324B-842A-559C507F5A3B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32670" y="370700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E2523E6-AA9A-C14A-AB65-9D490CD5D0DE}">
                    <psuz:zmPr id="{0B89C22F-2C31-0544-A7C7-3D5C303DD63A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516193" y="370700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58BCF7F-F411-AA43-9A8B-1079EAF74D98}">
                    <psuz:zmPr id="{E87AC8C0-02DF-2142-8AB1-98E77C4F4A47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32670" y="3831051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540D386-E8E1-CD46-9D62-B71FEDE3C892}">
                    <psuz:zmPr id="{28AD89D7-3E27-FB4C-A340-174233B40119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516193" y="3831051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>
                <a:extLst>
                  <a:ext uri="{FF2B5EF4-FFF2-40B4-BE49-F238E27FC236}">
                    <a16:creationId xmlns:a16="http://schemas.microsoft.com/office/drawing/2014/main" id="{9B4F8477-6FD4-FEBF-3838-D5DAD788F82B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-312057" y="-293915"/>
                <a:ext cx="12816114" cy="7445829"/>
                <a:chOff x="-312057" y="-293915"/>
                <a:chExt cx="12816114" cy="7445829"/>
              </a:xfrm>
            </p:grpSpPr>
            <p:pic>
              <p:nvPicPr>
                <p:cNvPr id="2" name="Picture 2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20613" y="76785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3" name="Picture 3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04136" y="76785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20613" y="3537136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04136" y="3537136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863433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FA2F521-6BAB-9C2E-8581-6B1E63B09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0728325" cy="6037943"/>
          </a:xfrm>
        </p:spPr>
        <p:txBody>
          <a:bodyPr anchor="ctr"/>
          <a:lstStyle/>
          <a:p>
            <a:r>
              <a:rPr lang="en-GB" sz="8800" noProof="0"/>
              <a:t>Problem &amp; </a:t>
            </a:r>
            <a:br>
              <a:rPr lang="en-GB" sz="8800" noProof="0"/>
            </a:br>
            <a:r>
              <a:rPr lang="en-GB" sz="8800" noProof="0"/>
              <a:t>Approach</a:t>
            </a:r>
          </a:p>
        </p:txBody>
      </p:sp>
    </p:spTree>
    <p:extLst>
      <p:ext uri="{BB962C8B-B14F-4D97-AF65-F5344CB8AC3E}">
        <p14:creationId xmlns:p14="http://schemas.microsoft.com/office/powerpoint/2010/main" val="4077888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FF9FAB-549E-0AFD-A394-D846A88E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Motivation: Why mixed-frequency data?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2F2AC4-0F77-F538-7B4B-7C65DAAFF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50000"/>
              </a:lnSpc>
            </a:pPr>
            <a:r>
              <a:rPr lang="en-GB" noProof="0">
                <a:cs typeface="Arial"/>
              </a:rPr>
              <a:t>Data is published at </a:t>
            </a:r>
            <a:r>
              <a:rPr lang="en-GB" b="1" noProof="0">
                <a:cs typeface="Arial"/>
              </a:rPr>
              <a:t>different frequencies</a:t>
            </a:r>
          </a:p>
          <a:p>
            <a:pPr marL="269875" indent="-269875">
              <a:lnSpc>
                <a:spcPct val="250000"/>
              </a:lnSpc>
            </a:pPr>
            <a:r>
              <a:rPr lang="en-GB" b="1" noProof="0"/>
              <a:t>Avoid discarding </a:t>
            </a:r>
            <a:r>
              <a:rPr lang="en-GB" noProof="0"/>
              <a:t>timely high frequency </a:t>
            </a:r>
            <a:r>
              <a:rPr lang="en-GB" b="1" noProof="0"/>
              <a:t>data</a:t>
            </a:r>
            <a:r>
              <a:rPr lang="en-GB" noProof="0"/>
              <a:t> when forecasting low frequency targets</a:t>
            </a:r>
            <a:endParaRPr lang="en-GB" noProof="0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r>
              <a:rPr lang="en-GB" noProof="0"/>
              <a:t>Exploit </a:t>
            </a:r>
            <a:r>
              <a:rPr lang="en-GB" b="1" noProof="0"/>
              <a:t>ragged-edge information </a:t>
            </a:r>
            <a:r>
              <a:rPr lang="en-GB" noProof="0"/>
              <a:t>(latest months) without waiting for quarterly releases</a:t>
            </a:r>
            <a:endParaRPr lang="en-GB" noProof="0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r>
              <a:rPr lang="en-GB" noProof="0"/>
              <a:t>Improve </a:t>
            </a:r>
            <a:r>
              <a:rPr lang="en-GB" b="1" noProof="0"/>
              <a:t>short-horizon accuracy </a:t>
            </a:r>
            <a:r>
              <a:rPr lang="en-GB" noProof="0"/>
              <a:t>while retaining medium-horizon structure</a:t>
            </a:r>
            <a:endParaRPr lang="en-GB" noProof="0">
              <a:cs typeface="Arial"/>
            </a:endParaRPr>
          </a:p>
          <a:p>
            <a:pPr marL="0" indent="0">
              <a:lnSpc>
                <a:spcPct val="250000"/>
              </a:lnSpc>
              <a:buNone/>
            </a:pPr>
            <a:endParaRPr lang="en-GB" noProof="0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FF2AAC-953F-74AD-DDC4-DE4DE4BC7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4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890725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7B104-C6BC-458D-DB19-1ADCD21FC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Question: MIDAS vs. MF-VAR</a:t>
            </a:r>
            <a:br>
              <a:rPr lang="en-GB" noProof="0"/>
            </a:br>
            <a:endParaRPr lang="en-GB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53FD4-679A-1E84-DB68-35189AA9A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spcBef>
                <a:spcPts val="1200"/>
              </a:spcBef>
            </a:pPr>
            <a:r>
              <a:rPr lang="en-GB" b="1" noProof="0"/>
              <a:t>MIDAS</a:t>
            </a:r>
            <a:endParaRPr lang="en-US" b="1"/>
          </a:p>
          <a:p>
            <a:pPr marL="537845" lvl="1" indent="-271145">
              <a:spcBef>
                <a:spcPts val="1200"/>
              </a:spcBef>
            </a:pPr>
            <a:r>
              <a:rPr lang="en-GB" noProof="0"/>
              <a:t>Parsimonious distributed lags for high-frequency inputs</a:t>
            </a:r>
            <a:endParaRPr lang="en-GB" noProof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noProof="0"/>
              <a:t>Fast and robust</a:t>
            </a:r>
            <a:endParaRPr lang="en-GB" noProof="0">
              <a:cs typeface="Arial"/>
            </a:endParaRPr>
          </a:p>
          <a:p>
            <a:pPr marL="269875" indent="-269875">
              <a:lnSpc>
                <a:spcPct val="200000"/>
              </a:lnSpc>
              <a:spcBef>
                <a:spcPts val="1200"/>
              </a:spcBef>
            </a:pPr>
            <a:r>
              <a:rPr lang="en-GB" b="1" noProof="0"/>
              <a:t>MF-VAR package</a:t>
            </a:r>
            <a:endParaRPr lang="en-GB" b="1" noProof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noProof="0"/>
              <a:t>Full joint dynamics with Minnesota + IW priors</a:t>
            </a:r>
            <a:endParaRPr lang="en-GB" noProof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noProof="0"/>
              <a:t>Coherent forecasts</a:t>
            </a:r>
            <a:endParaRPr lang="en-GB" noProof="0">
              <a:cs typeface="Arial"/>
            </a:endParaRPr>
          </a:p>
          <a:p>
            <a:pPr marL="269875" indent="-269875">
              <a:lnSpc>
                <a:spcPct val="200000"/>
              </a:lnSpc>
              <a:spcBef>
                <a:spcPts val="1200"/>
              </a:spcBef>
            </a:pPr>
            <a:r>
              <a:rPr lang="en-GB" b="1" noProof="0"/>
              <a:t>MF-VAR </a:t>
            </a:r>
            <a:r>
              <a:rPr lang="en-GB" b="1"/>
              <a:t>implemented</a:t>
            </a:r>
            <a:r>
              <a:rPr lang="en-GB" b="1" noProof="0"/>
              <a:t> manually</a:t>
            </a:r>
            <a:endParaRPr lang="en-GB" b="1" noProof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/>
              <a:t>Due to lack of maintenance with original package</a:t>
            </a:r>
            <a:endParaRPr lang="en-GB" noProof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A323E-A348-15AB-1538-65B823BA0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8884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10C2A-4054-1B18-9285-8ED65DED5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0728325" cy="5994400"/>
          </a:xfrm>
        </p:spPr>
        <p:txBody>
          <a:bodyPr anchor="ctr"/>
          <a:lstStyle/>
          <a:p>
            <a:r>
              <a:rPr lang="en-GB" sz="8800" noProof="0"/>
              <a:t>Data &amp; </a:t>
            </a:r>
            <a:br>
              <a:rPr lang="en-GB" sz="8800" noProof="0"/>
            </a:br>
            <a:r>
              <a:rPr lang="en-GB" sz="8800" noProof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593003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E6E3C-0A8C-0E0F-1886-44E190A7D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Data</a:t>
            </a:r>
            <a:br>
              <a:rPr lang="en-GB" noProof="0"/>
            </a:br>
            <a:endParaRPr lang="en-GB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02594-BBEA-A88D-0DA8-9F9C35D37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/>
            <a:r>
              <a:rPr lang="en-GB" b="1" noProof="0" dirty="0"/>
              <a:t>Quarterly</a:t>
            </a:r>
            <a:r>
              <a:rPr lang="en-GB" noProof="0" dirty="0"/>
              <a:t> (KOF): </a:t>
            </a:r>
          </a:p>
          <a:p>
            <a:pPr marL="537845" lvl="1" indent="-271145"/>
            <a:r>
              <a:rPr lang="en-GB" noProof="0" dirty="0"/>
              <a:t>GDP Growth </a:t>
            </a:r>
            <a:endParaRPr lang="en-GB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Inflation </a:t>
            </a:r>
            <a:endParaRPr lang="en-GB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CHF-EUR Exchange rate</a:t>
            </a:r>
            <a:endParaRPr lang="en-GB" noProof="0" dirty="0">
              <a:solidFill>
                <a:srgbClr val="FF0000"/>
              </a:solidFill>
              <a:cs typeface="Arial"/>
            </a:endParaRPr>
          </a:p>
          <a:p>
            <a:pPr marL="269875" indent="-269875">
              <a:spcBef>
                <a:spcPts val="2200"/>
              </a:spcBef>
            </a:pPr>
            <a:r>
              <a:rPr lang="en-GB" b="1" noProof="0" dirty="0"/>
              <a:t>Monthly</a:t>
            </a:r>
            <a:r>
              <a:rPr lang="en-GB" noProof="0" dirty="0"/>
              <a:t>:</a:t>
            </a:r>
            <a:endParaRPr lang="en-GB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Total registered unemployment (SNB)</a:t>
            </a:r>
            <a:endParaRPr lang="en-GB" i="1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CPI (SNB)</a:t>
            </a:r>
            <a:endParaRPr lang="en-GB" i="1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Foreign exchange rate monthly average CHF-EUR (SNB)</a:t>
            </a:r>
            <a:endParaRPr lang="en-GB" i="1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SMI return (yahoo finance)</a:t>
            </a:r>
            <a:endParaRPr lang="en-GB" noProof="0" dirty="0">
              <a:cs typeface="Arial"/>
            </a:endParaRPr>
          </a:p>
          <a:p>
            <a:pPr marL="269875" indent="-269875">
              <a:spcBef>
                <a:spcPts val="2200"/>
              </a:spcBef>
            </a:pPr>
            <a:r>
              <a:rPr lang="en-GB" noProof="0" dirty="0"/>
              <a:t>MIDAS uses either MF-VAR </a:t>
            </a:r>
            <a:r>
              <a:rPr lang="en-GB" b="1" noProof="0" dirty="0"/>
              <a:t>latent states </a:t>
            </a:r>
            <a:r>
              <a:rPr lang="en-GB" noProof="0" dirty="0"/>
              <a:t>or </a:t>
            </a:r>
            <a:r>
              <a:rPr lang="en-GB" b="1" noProof="0" dirty="0"/>
              <a:t>KOF Barometer </a:t>
            </a:r>
            <a:endParaRPr lang="en-GB" b="1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CA0C5-148B-A507-6F23-2DD42602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7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2094757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A8D5-CD3A-F4E4-0A94-DEA86856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E409C2-4342-A446-1001-344DED4C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</a:t>
            </a:r>
            <a:br>
              <a:rPr lang="en-GB" noProof="0"/>
            </a:br>
            <a:endParaRPr lang="en-GB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824093-F67B-5C12-6037-9ECAF7F76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GB" b="1" noProof="0"/>
              <a:t>Separate implementation </a:t>
            </a:r>
            <a:r>
              <a:rPr lang="en-GB" noProof="0"/>
              <a:t>of our three approaches</a:t>
            </a:r>
          </a:p>
          <a:p>
            <a:pPr>
              <a:lnSpc>
                <a:spcPct val="250000"/>
              </a:lnSpc>
            </a:pPr>
            <a:r>
              <a:rPr lang="en-GB" b="1" noProof="0"/>
              <a:t>Combination</a:t>
            </a:r>
            <a:r>
              <a:rPr lang="en-GB" noProof="0"/>
              <a:t> and normalisation of code (such that it can run together)</a:t>
            </a:r>
          </a:p>
          <a:p>
            <a:pPr>
              <a:lnSpc>
                <a:spcPct val="250000"/>
              </a:lnSpc>
            </a:pPr>
            <a:r>
              <a:rPr lang="en-GB" noProof="0"/>
              <a:t>Creating and running </a:t>
            </a:r>
            <a:r>
              <a:rPr lang="en-GB" b="1" noProof="0"/>
              <a:t>combined benchmarks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164E76-D390-DA29-0BE3-8ECFECA74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8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682574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4EDAF0-5DDB-365E-3F18-E9A15305D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MIDAS</a:t>
            </a:r>
          </a:p>
        </p:txBody>
      </p:sp>
    </p:spTree>
    <p:extLst>
      <p:ext uri="{BB962C8B-B14F-4D97-AF65-F5344CB8AC3E}">
        <p14:creationId xmlns:p14="http://schemas.microsoft.com/office/powerpoint/2010/main" val="3615197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E718C-69E4-D9B3-ABB1-805726791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FF988-71BB-44F8-086B-736C372B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B53C8C-34E9-3D2D-E56F-ECF8CF861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10</a:t>
            </a:fld>
            <a:endParaRPr lang="en-GB" noProof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967F15-53A1-AB8D-32B3-DEAFEEF525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046"/>
          <a:stretch>
            <a:fillRect/>
          </a:stretch>
        </p:blipFill>
        <p:spPr>
          <a:xfrm>
            <a:off x="-1" y="710350"/>
            <a:ext cx="12192001" cy="438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158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D9278-CF03-1460-4007-680899578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DCC0B-0E80-C401-642F-21D7C2A7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1426D8-EA13-97C5-33BF-55C75DB7A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11</a:t>
            </a:fld>
            <a:endParaRPr lang="en-GB" noProof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A05C44-096E-E148-6615-43EDD17C19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089"/>
          <a:stretch>
            <a:fillRect/>
          </a:stretch>
        </p:blipFill>
        <p:spPr>
          <a:xfrm>
            <a:off x="-2" y="808071"/>
            <a:ext cx="12192001" cy="438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640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F0803-EE2D-E33A-FB4B-19D30A014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67C20-72A4-6882-64F1-74532364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 – Final Models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66D98-B9FB-E37C-A032-2A56C4F67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12</a:t>
            </a:fld>
            <a:endParaRPr lang="en-GB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F7579B-A7F2-C9C0-4888-5CB04F928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962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93DA-4185-7665-45F8-65D845308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3D8D3-56B6-28D8-4682-22D06E34E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2781D-7ED5-893D-6BFF-AC80DFD39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00000"/>
              </a:lnSpc>
            </a:pPr>
            <a:r>
              <a:rPr lang="en-GB" noProof="0"/>
              <a:t>Four distinct MIDAS versions</a:t>
            </a:r>
          </a:p>
          <a:p>
            <a:pPr marL="537845" lvl="1" indent="-271145">
              <a:lnSpc>
                <a:spcPct val="200000"/>
              </a:lnSpc>
            </a:pPr>
            <a:r>
              <a:rPr lang="en-GB" noProof="0"/>
              <a:t>KOF Baro without trend</a:t>
            </a: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r>
              <a:rPr lang="en-GB" noProof="0"/>
              <a:t>KOF Baro with trend </a:t>
            </a: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r>
              <a:rPr lang="en-GB" noProof="0"/>
              <a:t>MF-VAR latent states without trend</a:t>
            </a: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r>
              <a:rPr lang="en-GB" noProof="0"/>
              <a:t>MF-VAR latent states with trend </a:t>
            </a: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endParaRPr lang="en-GB" noProof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endParaRPr lang="en-GB" noProof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CDAC6-7178-80DD-0B96-61A9E4A9D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13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919493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3BB5B2-2A1D-0908-3CDE-467C13FC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MF-VAR</a:t>
            </a:r>
          </a:p>
        </p:txBody>
      </p:sp>
    </p:spTree>
    <p:extLst>
      <p:ext uri="{BB962C8B-B14F-4D97-AF65-F5344CB8AC3E}">
        <p14:creationId xmlns:p14="http://schemas.microsoft.com/office/powerpoint/2010/main" val="2455957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A06F9-410C-36D8-B4B9-9BE66CA45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ea typeface="+mj-lt"/>
                <a:cs typeface="+mj-lt"/>
              </a:rPr>
              <a:t>MF-VAR: Purpose and Core Structure</a:t>
            </a:r>
            <a:endParaRPr lang="en-GB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D4D92-937A-A672-A17A-02DEF4434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10351"/>
            <a:ext cx="12273699" cy="8663788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EE79DF-8769-6692-B555-FF3ED939E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15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49869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5D0AA-F0D1-E1E9-EA94-CFF0A4FE8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State Representation</a:t>
            </a:r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F959C9-078C-2D65-BA95-B5C9EAAD2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1EB171E-AC1B-CEA7-DC45-8A825D5B8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16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87604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F685C-5B5A-4326-724F-092747BB0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Measurement System</a:t>
            </a:r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63900E-1E80-D762-B509-2EDE37468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81EB3D-61C1-63B0-588B-B8184714F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17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79029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AE8A2-C57F-5BC9-A952-FB58F742A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Bayesian Estimation and Minnesota Prior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EEB09D-63B3-102C-C376-E0678211A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289"/>
          <a:stretch>
            <a:fillRect/>
          </a:stretch>
        </p:blipFill>
        <p:spPr>
          <a:xfrm>
            <a:off x="0" y="710351"/>
            <a:ext cx="12192000" cy="5483059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16C317-0FD3-F58C-6846-BF044EC44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18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277826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FB89E-4BE2-ADCD-DB9F-3518082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1F736-2387-4E95-3CEE-5C82820A5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Bayesian Estimation and Minnesota Prior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B09770-EC77-0572-A453-7D0431A939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849"/>
          <a:stretch>
            <a:fillRect/>
          </a:stretch>
        </p:blipFill>
        <p:spPr>
          <a:xfrm>
            <a:off x="0" y="833295"/>
            <a:ext cx="12192000" cy="328331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9D01D3-AEB0-1402-3138-32E4F21F3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19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857778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8BC30-744E-71A1-5A53-F0D55BD57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Hyperparameter Selection through the Marginal Data Density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06DAAE-7F8B-1E1F-8B7A-6CCDA6E2E8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5019"/>
          <a:stretch>
            <a:fillRect/>
          </a:stretch>
        </p:blipFill>
        <p:spPr>
          <a:xfrm>
            <a:off x="0" y="710351"/>
            <a:ext cx="12192000" cy="3871076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F0627C-C03A-38C3-CE51-D53F6BF79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20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583416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7E69D-A2F4-A49C-1665-DBBAF1610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21DFD-BACC-D2C1-B665-B113543E8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Hyperparameter Selection through the Marginal Data Density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DE96A2-0AA5-2314-4A1A-657D3A010C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694"/>
          <a:stretch>
            <a:fillRect/>
          </a:stretch>
        </p:blipFill>
        <p:spPr>
          <a:xfrm>
            <a:off x="-1" y="694983"/>
            <a:ext cx="12192000" cy="501784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F53C4A-146F-FED5-D9E4-F64845B1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21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1032635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17F60-DD67-FE99-70A3-C8D719C47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>
                <a:cs typeface="Arial"/>
              </a:rPr>
              <a:t>MF-VAR: </a:t>
            </a:r>
            <a:r>
              <a:rPr lang="en-GB" noProof="0">
                <a:ea typeface="+mj-lt"/>
                <a:cs typeface="+mj-lt"/>
              </a:rPr>
              <a:t>Forecasting</a:t>
            </a:r>
            <a:endParaRPr lang="en-GB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EA85EA-EA72-E5FC-DDF2-090189853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10351"/>
            <a:ext cx="12192000" cy="8606118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47995-81DD-52D8-0EFB-6C1619540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22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134010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20271-944A-63D1-A53D-0F3932D25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83B21-2B9F-156B-080C-D4374D6C1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MF-VAR Manual Implementation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DCB26-D66A-A503-97EE-E411A5375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23</a:t>
            </a:fld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64BC25-7ACD-31FE-D19F-EBDE6C143A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b="39475"/>
          <a:stretch>
            <a:fillRect/>
          </a:stretch>
        </p:blipFill>
        <p:spPr>
          <a:xfrm>
            <a:off x="0" y="710351"/>
            <a:ext cx="12192000" cy="520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781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5DA8D-DDEF-C6DB-1BCE-DA3502F51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D8DF0-0D6B-5B5D-E793-039E8D9E6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MF-VAR Manual Implementation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3097A-809E-CA3B-591B-55D0ABEF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24</a:t>
            </a:fld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9162E2-C55A-E025-B93D-87684B713B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442"/>
          <a:stretch>
            <a:fillRect/>
          </a:stretch>
        </p:blipFill>
        <p:spPr>
          <a:xfrm>
            <a:off x="-1" y="717331"/>
            <a:ext cx="12192000" cy="3662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83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F3069-722D-BEDD-3C82-7DCB87D32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E19F-EB86-274B-A732-294975C11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MF-VAR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B9E65-41B1-90FA-0E37-AE0A0F802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GB" b="1"/>
              <a:t>m</a:t>
            </a:r>
            <a:r>
              <a:rPr lang="en-GB" b="1" noProof="0" err="1"/>
              <a:t>fbvar</a:t>
            </a:r>
            <a:r>
              <a:rPr lang="en-GB"/>
              <a:t> package</a:t>
            </a:r>
            <a:endParaRPr lang="en-GB" noProof="0"/>
          </a:p>
          <a:p>
            <a:pPr>
              <a:lnSpc>
                <a:spcPct val="250000"/>
              </a:lnSpc>
            </a:pPr>
            <a:r>
              <a:rPr lang="en-GB"/>
              <a:t>Not on CRAN, GitHub: </a:t>
            </a:r>
            <a:r>
              <a:rPr lang="en-GB">
                <a:hlinkClick r:id="rId3"/>
              </a:rPr>
              <a:t>https://github.com/ankargren/mfbvar</a:t>
            </a:r>
            <a:r>
              <a:rPr lang="en-GB"/>
              <a:t> </a:t>
            </a:r>
          </a:p>
          <a:p>
            <a:pPr>
              <a:lnSpc>
                <a:spcPct val="250000"/>
              </a:lnSpc>
            </a:pPr>
            <a:r>
              <a:rPr lang="en-GB" b="1"/>
              <a:t>Tuning</a:t>
            </a:r>
            <a:r>
              <a:rPr lang="en-GB"/>
              <a:t> overall</a:t>
            </a:r>
            <a:r>
              <a:rPr lang="en-GB" b="1"/>
              <a:t> tightness</a:t>
            </a:r>
            <a:r>
              <a:rPr lang="en-GB"/>
              <a:t>: trade-off of RMSE between variables (smaller lambda, worse exchange rate)</a:t>
            </a:r>
          </a:p>
          <a:p>
            <a:pPr>
              <a:lnSpc>
                <a:spcPct val="250000"/>
              </a:lnSpc>
            </a:pPr>
            <a:r>
              <a:rPr lang="en-GB"/>
              <a:t>Used </a:t>
            </a:r>
            <a:r>
              <a:rPr lang="en-GB" b="1"/>
              <a:t>defaults</a:t>
            </a:r>
            <a:r>
              <a:rPr lang="en-GB"/>
              <a:t> for other parameters</a:t>
            </a:r>
          </a:p>
          <a:p>
            <a:pPr>
              <a:lnSpc>
                <a:spcPct val="250000"/>
              </a:lnSpc>
            </a:pPr>
            <a:endParaRPr lang="en-GB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45694-5E15-D0A8-CBDB-6890DDF5F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25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9627255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C4F07-0A02-764D-DE33-0446236C8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MIDAS vs MF-VAR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F1F0E-CA75-8C0B-ADE4-49B4D5DB0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en-GB" b="1" dirty="0">
                <a:cs typeface="Arial"/>
              </a:rPr>
              <a:t>Main Differences: </a:t>
            </a:r>
            <a:endParaRPr lang="en-GB" b="1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buFont typeface="Calibri" panose="020B0604020202020204" pitchFamily="34" charset="0"/>
              <a:buChar char="-"/>
            </a:pPr>
            <a:r>
              <a:rPr lang="en-GB" noProof="0" dirty="0">
                <a:cs typeface="Arial"/>
              </a:rPr>
              <a:t>Cheap vs. Expensive</a:t>
            </a:r>
            <a:r>
              <a:rPr lang="en-GB" dirty="0">
                <a:cs typeface="Arial"/>
              </a:rPr>
              <a:t> (computationally)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buFont typeface="Calibri" panose="020B0604020202020204" pitchFamily="34" charset="0"/>
              <a:buChar char="-"/>
            </a:pPr>
            <a:r>
              <a:rPr lang="en-GB" dirty="0">
                <a:ea typeface="+mn-lt"/>
                <a:cs typeface="+mn-lt"/>
              </a:rPr>
              <a:t>Parameters updated iteratively vs. non-updated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buFont typeface="Calibri" panose="020B0604020202020204" pitchFamily="34" charset="0"/>
              <a:buChar char="-"/>
            </a:pPr>
            <a:r>
              <a:rPr lang="en-GB" dirty="0">
                <a:cs typeface="Arial"/>
              </a:rPr>
              <a:t>(reduced form) Single Equation vs. Multivariate modelling</a:t>
            </a:r>
          </a:p>
          <a:p>
            <a:pPr marL="0" indent="0">
              <a:lnSpc>
                <a:spcPct val="200000"/>
              </a:lnSpc>
              <a:buNone/>
            </a:pPr>
            <a:endParaRPr lang="en-GB" dirty="0">
              <a:cs typeface="Arial"/>
            </a:endParaRPr>
          </a:p>
          <a:p>
            <a:pPr marL="0" indent="0">
              <a:lnSpc>
                <a:spcPct val="200000"/>
              </a:lnSpc>
              <a:buNone/>
            </a:pPr>
            <a:endParaRPr lang="en-GB" noProof="0" dirty="0">
              <a:cs typeface="Arial"/>
            </a:endParaRPr>
          </a:p>
          <a:p>
            <a:pPr marL="0" indent="0">
              <a:lnSpc>
                <a:spcPct val="200000"/>
              </a:lnSpc>
              <a:spcBef>
                <a:spcPts val="1200"/>
              </a:spcBef>
              <a:buNone/>
            </a:pP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  <a:buFont typeface="Calibri" panose="020B0604020202020204" pitchFamily="34" charset="0"/>
              <a:buChar char="-"/>
            </a:pPr>
            <a:endParaRPr lang="en-GB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0055-39DA-2C78-8728-A3BF23E15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26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6070494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9F861-7497-DFBF-84E2-6D631375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800" noProof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16245746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6F542-46A7-77AA-7941-D383A38CA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DF8DB2-0E24-81C8-9E66-853F7FF98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Results</a:t>
            </a:r>
            <a:br>
              <a:rPr lang="en-GB" noProof="0"/>
            </a:br>
            <a:endParaRPr lang="en-GB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802CDB-A62C-789D-7C6B-03AC6ED5C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300000"/>
              </a:lnSpc>
            </a:pPr>
            <a:r>
              <a:rPr lang="en-GB" noProof="0"/>
              <a:t>Forecast Evaluation</a:t>
            </a:r>
          </a:p>
          <a:p>
            <a:pPr marL="269875" indent="-269875">
              <a:lnSpc>
                <a:spcPct val="300000"/>
              </a:lnSpc>
            </a:pPr>
            <a:r>
              <a:rPr lang="en-GB" noProof="0">
                <a:cs typeface="Arial"/>
              </a:rPr>
              <a:t>Economic Indicators</a:t>
            </a:r>
          </a:p>
          <a:p>
            <a:pPr marL="269875" indent="-269875">
              <a:lnSpc>
                <a:spcPct val="300000"/>
              </a:lnSpc>
            </a:pPr>
            <a:r>
              <a:rPr lang="en-GB">
                <a:cs typeface="Arial"/>
              </a:rPr>
              <a:t>Forecasts</a:t>
            </a:r>
            <a:endParaRPr lang="en-GB" noProof="0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190ED4-03BF-5E27-43CC-11C1D9526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28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940335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E017B-C9B1-D85E-EFD0-588B8C97C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Forecast Evaluation</a:t>
            </a:r>
          </a:p>
        </p:txBody>
      </p:sp>
    </p:spTree>
    <p:extLst>
      <p:ext uri="{BB962C8B-B14F-4D97-AF65-F5344CB8AC3E}">
        <p14:creationId xmlns:p14="http://schemas.microsoft.com/office/powerpoint/2010/main" val="20995978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9A050-7F94-379D-91F1-6FE2AB79C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B66FCF-2F3C-4BB1-32B8-7F714C678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Forecast Evaluation – Cross-Validation </a:t>
            </a:r>
            <a:br>
              <a:rPr lang="en-GB" noProof="0"/>
            </a:br>
            <a:endParaRPr lang="en-GB" noProof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83BDE4-A03E-3681-4322-8AA28C68B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b="1" noProof="0">
                <a:cs typeface="Arial"/>
              </a:rPr>
              <a:t>Expanding</a:t>
            </a:r>
            <a:r>
              <a:rPr lang="en-GB" noProof="0">
                <a:cs typeface="Arial"/>
              </a:rPr>
              <a:t> window 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>
                <a:cs typeface="Arial"/>
              </a:rPr>
              <a:t>Benchmark Model: </a:t>
            </a:r>
            <a:r>
              <a:rPr lang="en-GB" b="1" noProof="0">
                <a:cs typeface="Arial"/>
              </a:rPr>
              <a:t>AR(2)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>
                <a:cs typeface="Arial"/>
              </a:rPr>
              <a:t>Number of Folds: </a:t>
            </a:r>
            <a:r>
              <a:rPr lang="en-GB" b="1" noProof="0">
                <a:cs typeface="Arial"/>
              </a:rPr>
              <a:t>20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>
                <a:cs typeface="Arial"/>
              </a:rPr>
              <a:t>Horizons: </a:t>
            </a:r>
            <a:r>
              <a:rPr lang="en-GB" b="1" noProof="0">
                <a:cs typeface="Arial"/>
              </a:rPr>
              <a:t>1-step ahead </a:t>
            </a:r>
            <a:r>
              <a:rPr lang="en-GB" noProof="0">
                <a:cs typeface="Arial"/>
              </a:rPr>
              <a:t>(1 quarter), </a:t>
            </a:r>
            <a:r>
              <a:rPr lang="en-GB" b="1" noProof="0">
                <a:cs typeface="Arial"/>
              </a:rPr>
              <a:t>1-year ahead </a:t>
            </a:r>
            <a:r>
              <a:rPr lang="en-GB" noProof="0">
                <a:cs typeface="Arial"/>
              </a:rPr>
              <a:t>(4 quarters)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>
                <a:cs typeface="Arial"/>
              </a:rPr>
              <a:t>Train/Validation data Points: </a:t>
            </a:r>
          </a:p>
          <a:p>
            <a:pPr marL="538038" lvl="1" indent="-269875">
              <a:lnSpc>
                <a:spcPct val="150000"/>
              </a:lnSpc>
              <a:spcBef>
                <a:spcPts val="400"/>
              </a:spcBef>
            </a:pPr>
            <a:r>
              <a:rPr lang="en-GB" noProof="0">
                <a:cs typeface="Arial"/>
              </a:rPr>
              <a:t>Training expands from 111 to 130 quarters (</a:t>
            </a:r>
            <a:r>
              <a:rPr lang="en-GB" b="1" noProof="0">
                <a:cs typeface="Arial"/>
              </a:rPr>
              <a:t>1992</a:t>
            </a:r>
            <a:r>
              <a:rPr lang="en-GB" noProof="0">
                <a:cs typeface="Arial"/>
              </a:rPr>
              <a:t> Q1–2019 Q3 through 1992 Q1–2024 Q2)</a:t>
            </a:r>
          </a:p>
          <a:p>
            <a:pPr marL="538038" lvl="1" indent="-269875">
              <a:lnSpc>
                <a:spcPct val="150000"/>
              </a:lnSpc>
              <a:spcBef>
                <a:spcPts val="400"/>
              </a:spcBef>
            </a:pPr>
            <a:r>
              <a:rPr lang="en-GB" noProof="0">
                <a:cs typeface="Arial"/>
              </a:rPr>
              <a:t>Validation = </a:t>
            </a:r>
            <a:r>
              <a:rPr lang="en-GB" b="1" noProof="0">
                <a:cs typeface="Arial"/>
              </a:rPr>
              <a:t>20 observations per variable/horizon </a:t>
            </a:r>
            <a:r>
              <a:rPr lang="en-GB" noProof="0">
                <a:cs typeface="Arial"/>
              </a:rPr>
              <a:t>(one per fold)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>
                <a:cs typeface="Arial"/>
              </a:rPr>
              <a:t>Error Metrics: RMSE &amp; MSE </a:t>
            </a:r>
            <a:r>
              <a:rPr lang="en-GB" b="1" noProof="0">
                <a:cs typeface="Arial"/>
              </a:rPr>
              <a:t>per variable and extra monthly data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endParaRPr lang="en-GB" noProof="0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887ECF-DE54-E6D5-5FF2-3D207314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30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0166956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03E8-A618-1D7D-C264-5B5417065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52FB71-5598-6423-10A3-9CCB32B52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260351"/>
            <a:ext cx="12182475" cy="6091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8131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31AC3-C47D-BEE1-1489-1ADDA82E5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DE8D2F-FDF6-9552-381D-07471B89D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00" y="260351"/>
            <a:ext cx="12195400" cy="609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2102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69750-D1C3-7104-D3DD-BFD02F8DC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51B67-1C66-FD6E-D243-99BAC8D5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5" name="Content Placeholder 4" descr="A screen shot of a graph&#10;&#10;AI-generated content may be incorrect.">
            <a:extLst>
              <a:ext uri="{FF2B5EF4-FFF2-40B4-BE49-F238E27FC236}">
                <a16:creationId xmlns:a16="http://schemas.microsoft.com/office/drawing/2014/main" id="{1FA7B654-B361-DA83-8F3D-F485BB6181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8080" y="850268"/>
            <a:ext cx="5931009" cy="5748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920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EF545-7D78-6E6F-B7C7-A6461AD4F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E68E1-85CC-016D-30C9-CBA7977CD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3" name="Picture 2" descr="A screen shot of a chart&#10;&#10;AI-generated content may be incorrect.">
            <a:extLst>
              <a:ext uri="{FF2B5EF4-FFF2-40B4-BE49-F238E27FC236}">
                <a16:creationId xmlns:a16="http://schemas.microsoft.com/office/drawing/2014/main" id="{5A96E4DF-2908-F985-689B-5ACD986F6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942" y="930413"/>
            <a:ext cx="5744117" cy="565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0196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E0BAF-F3C4-856C-0294-CF845ECD6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4AEA6-26B8-F23B-0E17-52203C93F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4" name="Picture 3" descr="A screen shot of a graph&#10;&#10;AI-generated content may be incorrect.">
            <a:extLst>
              <a:ext uri="{FF2B5EF4-FFF2-40B4-BE49-F238E27FC236}">
                <a16:creationId xmlns:a16="http://schemas.microsoft.com/office/drawing/2014/main" id="{7E3E3DD0-398A-07B3-ECCF-D0EC852DD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200" y="844826"/>
            <a:ext cx="5801600" cy="590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7430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E4279-9296-B827-CAE6-8FF7D22F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4DAB4-EE32-3709-E680-E2232222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3" name="Picture 2" descr="A screen shot of a chart&#10;&#10;AI-generated content may be incorrect.">
            <a:extLst>
              <a:ext uri="{FF2B5EF4-FFF2-40B4-BE49-F238E27FC236}">
                <a16:creationId xmlns:a16="http://schemas.microsoft.com/office/drawing/2014/main" id="{4E85A865-0B38-5297-CD11-1B1811CE0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642" y="902803"/>
            <a:ext cx="6084858" cy="586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9220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048F8-A408-AA54-F418-61F6062F9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2D4F-C6D4-8FBB-A330-7892A0EFC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4" name="Picture 3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842B1544-9E7A-0FDA-FF5B-4B2BCAFDA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922" y="789608"/>
            <a:ext cx="5917112" cy="589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288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19DB7-98DB-0CE9-B33A-1C7F6F8B7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1BA12-CE4D-F7F9-C298-CD5477E31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CA9D6F17-67F0-E54F-3484-352341C52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371" y="789608"/>
            <a:ext cx="5961259" cy="590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3124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CE14D-42C5-B731-C5A2-8908176F4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1E6D-2F01-267D-5799-23AD64B6C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5B4E70-D45D-025E-2F4D-D25B3944C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805" y="791130"/>
            <a:ext cx="5989153" cy="59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1765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0522-C829-9B47-14B8-DB2531F2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F2F2-6C90-05E9-1B32-4DB121DB5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4" name="Picture 3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02942CCF-0832-ACE2-5AA2-0CDFB24BE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592" y="779517"/>
            <a:ext cx="6100909" cy="591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7642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E84BA-DD9C-A875-0B05-10CC75562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8A1A1-4861-10F0-5286-575E7D6DE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5" name="Picture 4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F13B7DCA-30E0-91A3-2559-021790FA9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837" y="822738"/>
            <a:ext cx="5969282" cy="586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7856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765892-ACA9-5BF0-9B03-4DFB5CDCD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Economic Indicators</a:t>
            </a:r>
          </a:p>
        </p:txBody>
      </p:sp>
    </p:spTree>
    <p:extLst>
      <p:ext uri="{BB962C8B-B14F-4D97-AF65-F5344CB8AC3E}">
        <p14:creationId xmlns:p14="http://schemas.microsoft.com/office/powerpoint/2010/main" val="42031100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90DDA-B915-8505-28FD-8A700F15A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5271ED-2EDA-FDCD-075E-F9A38FFC5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43</a:t>
            </a:fld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04B06E-28D3-92F7-192A-F31A4378E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6874"/>
            <a:ext cx="12192000" cy="52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5134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E98C7-DE85-62F1-F279-D993FE4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A2BA0A-89C4-A44A-B009-9A1FAD81C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641" y="-3374"/>
            <a:ext cx="8576717" cy="6861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517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1D77895-1880-9C2D-8F4D-1B0767D31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C939481-6509-9D35-99F6-0728F9605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9" y="0"/>
            <a:ext cx="762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775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EAF9C-C106-DDBC-5906-09583EFED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DD85DD-9FF9-9736-169D-CC6D0FE69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16422"/>
            <a:ext cx="12191993" cy="52251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254531-B43D-D06E-1ACF-C4DB51F7B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" y="816416"/>
            <a:ext cx="12191991" cy="52251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2B9DBF-B813-ECC1-1720-2061E20CC5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" y="816426"/>
            <a:ext cx="12191998" cy="5225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6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82D7E-A842-6E83-F692-B7D7932C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B2041-93B6-0E0A-715F-473A102E8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20B3F2-42C1-3501-6226-D64F89C7A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816429"/>
            <a:ext cx="12192000" cy="522514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4EF081-4654-31CC-F899-669CAF9A8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2745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BD23C-6346-1560-0A40-F2229BFC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Forecasts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64C6E-7782-D326-8FFB-08BE647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48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2600503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DFC8E7-A4F7-CDB8-56C8-F35ECB1D9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BF0D11-9E4F-F3B9-5F29-A402FE48A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5849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0E888-E115-EFE6-518A-0B9FD0069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C87048-40DB-2E41-B57A-B0E660284C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</p:spPr>
      </p:pic>
    </p:spTree>
    <p:extLst>
      <p:ext uri="{BB962C8B-B14F-4D97-AF65-F5344CB8AC3E}">
        <p14:creationId xmlns:p14="http://schemas.microsoft.com/office/powerpoint/2010/main" val="2569435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EA20D-102B-1866-D912-073CD0AEB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B9584E-DC1C-9D46-CB7A-09A391AF84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</p:spPr>
      </p:pic>
    </p:spTree>
    <p:extLst>
      <p:ext uri="{BB962C8B-B14F-4D97-AF65-F5344CB8AC3E}">
        <p14:creationId xmlns:p14="http://schemas.microsoft.com/office/powerpoint/2010/main" val="1357260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5D0D-5A61-0E01-6FCA-94CB24BB8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SECO GDP Flash: </a:t>
            </a:r>
            <a:r>
              <a:rPr lang="en-GB" b="1" noProof="0"/>
              <a:t>-0.5%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A7B2310-E53E-CF8B-CC84-E1BA905A14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69781" y="1412875"/>
            <a:ext cx="7252438" cy="467995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A596F5-0915-0189-466C-2621AABD5FED}"/>
              </a:ext>
            </a:extLst>
          </p:cNvPr>
          <p:cNvSpPr txBox="1"/>
          <p:nvPr/>
        </p:nvSpPr>
        <p:spPr>
          <a:xfrm>
            <a:off x="1863700" y="6459149"/>
            <a:ext cx="81948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noProof="0"/>
              <a:t>Source: https://</a:t>
            </a:r>
            <a:r>
              <a:rPr lang="en-GB" sz="1000" noProof="0" err="1"/>
              <a:t>www.seco.admin.ch</a:t>
            </a:r>
            <a:r>
              <a:rPr lang="en-GB" sz="1000" noProof="0"/>
              <a:t>/seco/</a:t>
            </a:r>
            <a:r>
              <a:rPr lang="en-GB" sz="1000" noProof="0" err="1"/>
              <a:t>en</a:t>
            </a:r>
            <a:r>
              <a:rPr lang="en-GB" sz="1000" noProof="0"/>
              <a:t>/home/</a:t>
            </a:r>
            <a:r>
              <a:rPr lang="en-GB" sz="1000" noProof="0" err="1"/>
              <a:t>wirtschaftslage</a:t>
            </a:r>
            <a:r>
              <a:rPr lang="en-GB" sz="1000" noProof="0"/>
              <a:t>---</a:t>
            </a:r>
            <a:r>
              <a:rPr lang="en-GB" sz="1000" noProof="0" err="1"/>
              <a:t>wirtschaftspolitik</a:t>
            </a:r>
            <a:r>
              <a:rPr lang="en-GB" sz="1000" noProof="0"/>
              <a:t>/</a:t>
            </a:r>
            <a:r>
              <a:rPr lang="en-GB" sz="1000" noProof="0" err="1"/>
              <a:t>Wirtschaftslage</a:t>
            </a:r>
            <a:r>
              <a:rPr lang="en-GB" sz="1000" noProof="0"/>
              <a:t>/</a:t>
            </a:r>
            <a:r>
              <a:rPr lang="en-GB" sz="1000" noProof="0" err="1"/>
              <a:t>bip-quartalsschaetzungen</a:t>
            </a:r>
            <a:r>
              <a:rPr lang="en-GB" sz="1000" noProof="0"/>
              <a:t>-/flash-</a:t>
            </a:r>
            <a:r>
              <a:rPr lang="en-GB" sz="1000" noProof="0" err="1"/>
              <a:t>bip.html</a:t>
            </a:r>
            <a:endParaRPr lang="en-GB" sz="1000" noProof="0"/>
          </a:p>
        </p:txBody>
      </p:sp>
    </p:spTree>
    <p:extLst>
      <p:ext uri="{BB962C8B-B14F-4D97-AF65-F5344CB8AC3E}">
        <p14:creationId xmlns:p14="http://schemas.microsoft.com/office/powerpoint/2010/main" val="23035222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50D2-FCBA-D4D7-C091-781F14042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1020281" cy="5994400"/>
          </a:xfrm>
        </p:spPr>
        <p:txBody>
          <a:bodyPr anchor="ctr"/>
          <a:lstStyle/>
          <a:p>
            <a:r>
              <a:rPr lang="en-GB" sz="8800" noProof="0"/>
              <a:t>Interpretation &amp; </a:t>
            </a:r>
            <a:br>
              <a:rPr lang="en-GB" sz="8800" noProof="0"/>
            </a:br>
            <a:r>
              <a:rPr lang="en-GB" sz="8800" noProof="0"/>
              <a:t>Takeaways </a:t>
            </a:r>
            <a:endParaRPr lang="en-GB" sz="8800" noProof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82720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F7130-000A-4E4E-B48C-9DFD1CCB7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00BE7B-B2AE-0F7A-39EC-080306B1D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cs typeface="Arial"/>
              </a:rPr>
              <a:t>Results Interpretation</a:t>
            </a:r>
            <a:br>
              <a:rPr lang="en-GB" noProof="0"/>
            </a:br>
            <a:endParaRPr lang="en-GB" noProof="0">
              <a:cs typeface="Arial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0959001-F2AE-33C1-FD76-27850BDE9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50000"/>
              </a:lnSpc>
            </a:pPr>
            <a:r>
              <a:rPr lang="en-GB"/>
              <a:t>GDP Growth → Mixed Results </a:t>
            </a:r>
          </a:p>
          <a:p>
            <a:pPr marL="269875" indent="-269875">
              <a:lnSpc>
                <a:spcPct val="250000"/>
              </a:lnSpc>
            </a:pPr>
            <a:r>
              <a:rPr lang="en-GB">
                <a:cs typeface="Arial"/>
              </a:rPr>
              <a:t>Exchange Rate → AR(2) and MIDAS with Latent State</a:t>
            </a:r>
          </a:p>
          <a:p>
            <a:pPr marL="269875" indent="-269875">
              <a:lnSpc>
                <a:spcPct val="250000"/>
              </a:lnSpc>
            </a:pPr>
            <a:r>
              <a:rPr lang="en-GB">
                <a:cs typeface="Arial"/>
              </a:rPr>
              <a:t>Inflation → AR(2) and MIDAS </a:t>
            </a:r>
            <a:endParaRPr lang="en-US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endParaRPr lang="en-GB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endParaRPr lang="en-GB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endParaRPr lang="en-GB">
              <a:cs typeface="Arial"/>
            </a:endParaRPr>
          </a:p>
          <a:p>
            <a:pPr marL="269875" indent="-269875">
              <a:lnSpc>
                <a:spcPct val="250000"/>
              </a:lnSpc>
            </a:pPr>
            <a:endParaRPr lang="en-GB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73EAAA-FB93-6C61-4A3E-66DAD079F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54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961532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91F9C-7FD7-8619-8C1B-79556B287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219723-F5AD-02A1-3CAA-FEF08567E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Interpretation</a:t>
            </a:r>
            <a:br>
              <a:rPr lang="en-GB" noProof="0"/>
            </a:br>
            <a:endParaRPr lang="en-GB" noProof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206411B-7290-3BB7-AB5D-041BD99F2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GB"/>
              <a:t>Monthly data → latent state </a:t>
            </a:r>
            <a:r>
              <a:rPr lang="en-GB" b="1"/>
              <a:t>monthly index</a:t>
            </a:r>
            <a:r>
              <a:rPr lang="en-GB"/>
              <a:t> </a:t>
            </a:r>
          </a:p>
          <a:p>
            <a:pPr>
              <a:lnSpc>
                <a:spcPct val="250000"/>
              </a:lnSpc>
            </a:pPr>
            <a:r>
              <a:rPr lang="en-GB"/>
              <a:t>Indexes track </a:t>
            </a:r>
            <a:r>
              <a:rPr lang="en-GB" b="1"/>
              <a:t>quarterly GDP, inflation, and exchange rate</a:t>
            </a:r>
            <a:r>
              <a:rPr lang="en-GB"/>
              <a:t> </a:t>
            </a:r>
          </a:p>
          <a:p>
            <a:pPr>
              <a:lnSpc>
                <a:spcPct val="250000"/>
              </a:lnSpc>
            </a:pPr>
            <a:r>
              <a:rPr lang="en-GB"/>
              <a:t>MF-VAR states act as </a:t>
            </a:r>
            <a:r>
              <a:rPr lang="en-GB" b="1"/>
              <a:t>“shadow” high-frequency series</a:t>
            </a:r>
            <a:r>
              <a:rPr lang="en-GB"/>
              <a:t>: (smoother) but with same turning points</a:t>
            </a:r>
          </a:p>
          <a:p>
            <a:pPr>
              <a:lnSpc>
                <a:spcPct val="250000"/>
              </a:lnSpc>
            </a:pPr>
            <a:r>
              <a:rPr lang="en-GB"/>
              <a:t>2025–26 forecasts: </a:t>
            </a:r>
            <a:r>
              <a:rPr lang="en-GB" b="1"/>
              <a:t>GDP dip then recovery</a:t>
            </a:r>
            <a:r>
              <a:rPr lang="en-GB"/>
              <a:t>, </a:t>
            </a:r>
            <a:r>
              <a:rPr lang="en-GB" b="1"/>
              <a:t>steady-</a:t>
            </a:r>
            <a:r>
              <a:rPr lang="en-GB" b="1" err="1"/>
              <a:t>ish</a:t>
            </a:r>
            <a:r>
              <a:rPr lang="en-GB" b="1"/>
              <a:t> inflation</a:t>
            </a:r>
            <a:r>
              <a:rPr lang="en-GB"/>
              <a:t>, </a:t>
            </a:r>
            <a:r>
              <a:rPr lang="en-GB" b="1"/>
              <a:t>high FX uncertainty</a:t>
            </a:r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05D0C4-C1A4-8D22-4485-C89CBC43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55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7864284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226F-3203-B1FE-4674-4F2751B3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Policy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E4812-950F-3BC6-7B38-74FB4EA39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150000"/>
              </a:lnSpc>
            </a:pPr>
            <a:r>
              <a:rPr lang="en-GB"/>
              <a:t>Mixed-frequency methods are </a:t>
            </a:r>
            <a:r>
              <a:rPr lang="en-GB" b="1"/>
              <a:t>useful real-time tools</a:t>
            </a:r>
            <a:r>
              <a:rPr lang="en-GB"/>
              <a:t> for nowcasting</a:t>
            </a:r>
            <a:endParaRPr lang="en-US"/>
          </a:p>
          <a:p>
            <a:pPr marL="269875" indent="-269875">
              <a:lnSpc>
                <a:spcPct val="150000"/>
              </a:lnSpc>
            </a:pPr>
            <a:r>
              <a:rPr lang="en-GB" b="1"/>
              <a:t>Simple MIDAS</a:t>
            </a:r>
            <a:r>
              <a:rPr lang="en-GB"/>
              <a:t> (with MF-VAR states) ≈ or &gt; full MF-VAR in forecast performance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 b="1"/>
              <a:t>Over-parameterised models can fail badly</a:t>
            </a:r>
            <a:r>
              <a:rPr lang="en-GB"/>
              <a:t> despite good in-sample fit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/>
              <a:t>Forecast gains are </a:t>
            </a:r>
            <a:r>
              <a:rPr lang="en-GB" b="1"/>
              <a:t>uneven across variables</a:t>
            </a:r>
            <a:r>
              <a:rPr lang="en-GB"/>
              <a:t>: real activity &amp; prices benefit more than FX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 b="1"/>
              <a:t>Exchange-rate forecasts remain unreliable</a:t>
            </a:r>
            <a:r>
              <a:rPr lang="en-GB"/>
              <a:t> → policy should be cautious with FX point forecasts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 b="1"/>
              <a:t>Model risk is sizeable</a:t>
            </a:r>
            <a:r>
              <a:rPr lang="en-GB"/>
              <a:t>: results depend on model choice and priors; real-time errors can be large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r>
              <a:rPr lang="en-GB"/>
              <a:t>Best use: as part of a </a:t>
            </a:r>
            <a:r>
              <a:rPr lang="en-GB" b="1"/>
              <a:t>model ensemble</a:t>
            </a:r>
            <a:r>
              <a:rPr lang="en-GB"/>
              <a:t>, combined with judgement and other tools, not a mechanical rule</a:t>
            </a:r>
            <a:endParaRPr lang="en-GB">
              <a:cs typeface="Arial"/>
            </a:endParaRPr>
          </a:p>
          <a:p>
            <a:pPr marL="269875" indent="-269875">
              <a:lnSpc>
                <a:spcPct val="150000"/>
              </a:lnSpc>
            </a:pPr>
            <a:endParaRPr lang="en-GB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9504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6FC7C-CB6E-5AE1-07AB-8867A6848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4EDB7-27A4-09AC-6FF0-E887C0941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Outlook</a:t>
            </a:r>
            <a:br>
              <a:rPr lang="en-GB" noProof="0"/>
            </a:br>
            <a:endParaRPr lang="en-GB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6A208-A9E8-B4E5-D1B3-291581D22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00000"/>
              </a:lnSpc>
            </a:pPr>
            <a:r>
              <a:rPr lang="en-GB" noProof="0">
                <a:cs typeface="Arial"/>
              </a:rPr>
              <a:t>Improve </a:t>
            </a:r>
            <a:r>
              <a:rPr lang="en-GB" b="1" noProof="0">
                <a:cs typeface="Arial"/>
              </a:rPr>
              <a:t>Latent Space Accuracy </a:t>
            </a:r>
            <a:r>
              <a:rPr lang="en-GB" noProof="0">
                <a:cs typeface="Arial"/>
              </a:rPr>
              <a:t>(for MIDAS)</a:t>
            </a:r>
          </a:p>
          <a:p>
            <a:pPr marL="269875" indent="-269875">
              <a:lnSpc>
                <a:spcPct val="200000"/>
              </a:lnSpc>
            </a:pPr>
            <a:r>
              <a:rPr lang="en-GB" noProof="0">
                <a:cs typeface="Arial"/>
              </a:rPr>
              <a:t>Include </a:t>
            </a:r>
            <a:r>
              <a:rPr lang="en-GB" b="1" noProof="0">
                <a:cs typeface="Arial"/>
              </a:rPr>
              <a:t>more relevant time series </a:t>
            </a:r>
            <a:r>
              <a:rPr lang="en-GB" noProof="0">
                <a:cs typeface="Arial"/>
              </a:rPr>
              <a:t>(</a:t>
            </a:r>
            <a:r>
              <a:rPr lang="en-GB" noProof="0" err="1">
                <a:cs typeface="Arial"/>
              </a:rPr>
              <a:t>snboffzisa</a:t>
            </a:r>
            <a:r>
              <a:rPr lang="en-GB" noProof="0">
                <a:cs typeface="Arial"/>
              </a:rPr>
              <a:t>, etc.)</a:t>
            </a:r>
          </a:p>
          <a:p>
            <a:pPr marL="269875" indent="-269875">
              <a:lnSpc>
                <a:spcPct val="200000"/>
              </a:lnSpc>
            </a:pPr>
            <a:r>
              <a:rPr lang="en-GB" b="1" noProof="0">
                <a:cs typeface="Arial"/>
              </a:rPr>
              <a:t>Shift</a:t>
            </a:r>
            <a:r>
              <a:rPr lang="en-GB" noProof="0">
                <a:cs typeface="Arial"/>
              </a:rPr>
              <a:t> publication </a:t>
            </a:r>
            <a:r>
              <a:rPr lang="en-GB" b="1" noProof="0">
                <a:cs typeface="Arial"/>
              </a:rPr>
              <a:t>date</a:t>
            </a:r>
            <a:r>
              <a:rPr lang="en-GB" noProof="0">
                <a:cs typeface="Arial"/>
              </a:rPr>
              <a:t> more in-front for GDP-growth</a:t>
            </a:r>
            <a:endParaRPr lang="en-GB" noProof="0"/>
          </a:p>
          <a:p>
            <a:pPr marL="269875" indent="-269875">
              <a:lnSpc>
                <a:spcPct val="200000"/>
              </a:lnSpc>
            </a:pPr>
            <a:r>
              <a:rPr lang="en-GB" noProof="0"/>
              <a:t>Include </a:t>
            </a:r>
            <a:r>
              <a:rPr lang="en-GB" b="1" noProof="0"/>
              <a:t>Vintages</a:t>
            </a:r>
            <a:r>
              <a:rPr lang="en-GB" noProof="0"/>
              <a:t> for more accurate Forecast Evaluations</a:t>
            </a:r>
            <a:endParaRPr lang="en-GB" noProof="0">
              <a:cs typeface="Arial"/>
            </a:endParaRPr>
          </a:p>
          <a:p>
            <a:pPr marL="269875" indent="-269875">
              <a:lnSpc>
                <a:spcPct val="200000"/>
              </a:lnSpc>
            </a:pPr>
            <a:r>
              <a:rPr lang="en-GB">
                <a:cs typeface="Arial"/>
              </a:rPr>
              <a:t>U</a:t>
            </a:r>
            <a:r>
              <a:rPr lang="en-GB" noProof="0">
                <a:cs typeface="Arial"/>
              </a:rPr>
              <a:t>se {</a:t>
            </a:r>
            <a:r>
              <a:rPr lang="en-GB" noProof="0" err="1">
                <a:cs typeface="Arial"/>
              </a:rPr>
              <a:t>rumidas</a:t>
            </a:r>
            <a:r>
              <a:rPr lang="en-GB" noProof="0">
                <a:cs typeface="Arial"/>
              </a:rPr>
              <a:t>} R package for </a:t>
            </a:r>
            <a:r>
              <a:rPr lang="en-GB" b="1" noProof="0">
                <a:cs typeface="Arial"/>
              </a:rPr>
              <a:t>volatility forecasts</a:t>
            </a:r>
          </a:p>
          <a:p>
            <a:pPr marL="0" indent="0">
              <a:lnSpc>
                <a:spcPct val="200000"/>
              </a:lnSpc>
              <a:buNone/>
            </a:pPr>
            <a:endParaRPr lang="en-GB" noProof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05A0F-D0E5-19F3-C3CA-C0A5C3E8B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57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9463988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6EB4A-C1C7-B2A9-6556-5188A04DF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Our GitHub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09C33-3F4F-91AB-052F-6896B97AC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00000"/>
              </a:lnSpc>
            </a:pPr>
            <a:r>
              <a:rPr lang="en-GB" noProof="0">
                <a:hlinkClick r:id="rId2"/>
              </a:rPr>
              <a:t>https://github.com/mddudko/methods-for-macro-forecasting-2025/tree/main/submission</a:t>
            </a:r>
            <a:r>
              <a:rPr lang="en-GB" noProof="0"/>
              <a:t> </a:t>
            </a:r>
          </a:p>
          <a:p>
            <a:pPr marL="269875" indent="-269875">
              <a:lnSpc>
                <a:spcPct val="200000"/>
              </a:lnSpc>
            </a:pPr>
            <a:r>
              <a:rPr lang="en-GB" noProof="0"/>
              <a:t>To reproduce, follow the instructions in our </a:t>
            </a:r>
            <a:r>
              <a:rPr lang="en-GB" noProof="0" err="1"/>
              <a:t>README.md</a:t>
            </a:r>
            <a:r>
              <a:rPr lang="en-GB" noProof="0"/>
              <a:t> file</a:t>
            </a:r>
            <a:endParaRPr lang="en-GB" noProof="0">
              <a:cs typeface="Arial"/>
            </a:endParaRPr>
          </a:p>
          <a:p>
            <a:pPr marL="269875" indent="-269875">
              <a:lnSpc>
                <a:spcPct val="200000"/>
              </a:lnSpc>
            </a:pPr>
            <a:endParaRPr lang="en-GB" noProof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679AB-8BD5-7876-3C54-C88DB5BC2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58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035778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15619-42AE-C70F-881B-35643FC5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6000" noProof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1277982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4A1C8-1FCD-0370-D122-A083E1D7D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2D691-1B17-6221-E764-DE1FA4107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1020281" cy="5994400"/>
          </a:xfrm>
        </p:spPr>
        <p:txBody>
          <a:bodyPr anchor="ctr"/>
          <a:lstStyle/>
          <a:p>
            <a:r>
              <a:rPr lang="en-GB" sz="8800" noProof="0"/>
              <a:t>Appendix</a:t>
            </a:r>
            <a:br>
              <a:rPr lang="en-GB" sz="8800" noProof="0"/>
            </a:b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2780285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BAF12-AC6F-AE2A-B534-7328692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BEBFA-DC14-7928-92D5-D287AD7CC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Appendix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A960E5-0340-C4DC-0425-0CE01AF2D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499" y="-1"/>
            <a:ext cx="9715502" cy="685800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067C21-D4F1-5F5A-BF1F-6117E70A0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61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400237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88071-E852-D0C3-B404-FA78CF3B8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Appendix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B5CE006-28F5-3D36-E6C8-4230FDA704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6502" y="0"/>
            <a:ext cx="9715499" cy="6858000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6127D5-C0CB-426A-3316-9113D8A64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62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05878152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699CF-AA09-D2D7-6B19-13A7AA8B7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DFB62-236D-83A8-E77E-F1B593869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Appendix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CD9CEE2-DC43-7157-4CDD-C62F7FAAC5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6501" y="0"/>
            <a:ext cx="9715500" cy="6858000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1A78FD-B118-3AC8-ED34-B0D73106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63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1747438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71237-30C8-D169-A5ED-4D51E3FBD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FDEFE8-295F-8821-4B3A-E2B79D522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4424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35805-8C6E-3A83-8D10-A2D9B454F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F203D-C3EA-1386-B7BF-E0D496BD7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943688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847</Words>
  <Application>Microsoft Macintosh PowerPoint</Application>
  <PresentationFormat>Widescreen</PresentationFormat>
  <Paragraphs>191</Paragraphs>
  <Slides>65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0" baseType="lpstr">
      <vt:lpstr>Aptos</vt:lpstr>
      <vt:lpstr>Arial</vt:lpstr>
      <vt:lpstr>Calibri</vt:lpstr>
      <vt:lpstr>Symbol</vt:lpstr>
      <vt:lpstr>ETH Zürich</vt:lpstr>
      <vt:lpstr>Mixed-Frequency Forecasting MIDAS vs MF-VAR</vt:lpstr>
      <vt:lpstr>PowerPoint Presentation</vt:lpstr>
      <vt:lpstr>Problem &amp;  Approach</vt:lpstr>
      <vt:lpstr>Motivation: Why mixed-frequency data?</vt:lpstr>
      <vt:lpstr>Question: MIDAS vs. MF-VAR </vt:lpstr>
      <vt:lpstr>Data &amp;  Methodology</vt:lpstr>
      <vt:lpstr>Data </vt:lpstr>
      <vt:lpstr>Methodology </vt:lpstr>
      <vt:lpstr>MIDAS</vt:lpstr>
      <vt:lpstr>Methodology: MIDAS</vt:lpstr>
      <vt:lpstr>Methodology: MIDAS</vt:lpstr>
      <vt:lpstr>Methodology: MIDAS – Final Models </vt:lpstr>
      <vt:lpstr>Methodology: MIDAS Continued</vt:lpstr>
      <vt:lpstr>MF-VAR</vt:lpstr>
      <vt:lpstr>MF-VAR: Purpose and Core Structure</vt:lpstr>
      <vt:lpstr>MF-VAR: State Representation</vt:lpstr>
      <vt:lpstr>MF-VAR: Measurement System</vt:lpstr>
      <vt:lpstr>MF-VAR: Bayesian Estimation and Minnesota Prior</vt:lpstr>
      <vt:lpstr>MF-VAR: Bayesian Estimation and Minnesota Prior</vt:lpstr>
      <vt:lpstr>MF-VAR: Hyperparameter Selection through the Marginal Data Density</vt:lpstr>
      <vt:lpstr>MF-VAR: Hyperparameter Selection through the Marginal Data Density</vt:lpstr>
      <vt:lpstr>MF-VAR: Forecasting</vt:lpstr>
      <vt:lpstr>Methodology: MF-VAR Manual Implementation</vt:lpstr>
      <vt:lpstr>Methodology: MF-VAR Manual Implementation</vt:lpstr>
      <vt:lpstr>Methodology: MF-VAR Package</vt:lpstr>
      <vt:lpstr>MIDAS vs MF-VAR</vt:lpstr>
      <vt:lpstr>Results</vt:lpstr>
      <vt:lpstr>Results </vt:lpstr>
      <vt:lpstr>Forecast Evaluation</vt:lpstr>
      <vt:lpstr>Forecast Evaluation – Cross-Validation  </vt:lpstr>
      <vt:lpstr>PowerPoint Presentation</vt:lpstr>
      <vt:lpstr>PowerPoint Presentation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Economic Indicators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Forecasts</vt:lpstr>
      <vt:lpstr>PowerPoint Presentation</vt:lpstr>
      <vt:lpstr>PowerPoint Presentation</vt:lpstr>
      <vt:lpstr>PowerPoint Presentation</vt:lpstr>
      <vt:lpstr>SECO GDP Flash: -0.5%</vt:lpstr>
      <vt:lpstr>Interpretation &amp;  Takeaways </vt:lpstr>
      <vt:lpstr>Results Interpretation </vt:lpstr>
      <vt:lpstr>Interpretation </vt:lpstr>
      <vt:lpstr>Policy Takeaways</vt:lpstr>
      <vt:lpstr>Outlook </vt:lpstr>
      <vt:lpstr>Our GitHub Repository</vt:lpstr>
      <vt:lpstr>Thank you for your attention!</vt:lpstr>
      <vt:lpstr>Appendix </vt:lpstr>
      <vt:lpstr>Appendix</vt:lpstr>
      <vt:lpstr>Appendix</vt:lpstr>
      <vt:lpstr>Appendix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Mixed-Frequency Forecasting MIDAS vs MF-VAR</dc:title>
  <dc:creator>Michal Dudko</dc:creator>
  <cp:lastModifiedBy>Dudko  Michal</cp:lastModifiedBy>
  <cp:revision>1</cp:revision>
  <dcterms:created xsi:type="dcterms:W3CDTF">2025-11-16T18:17:36Z</dcterms:created>
  <dcterms:modified xsi:type="dcterms:W3CDTF">2025-11-20T08:53:52Z</dcterms:modified>
</cp:coreProperties>
</file>