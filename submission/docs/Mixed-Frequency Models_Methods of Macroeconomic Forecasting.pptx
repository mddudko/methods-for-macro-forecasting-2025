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C_FAE7809D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8"/>
  </p:notesMasterIdLst>
  <p:sldIdLst>
    <p:sldId id="256" r:id="rId2"/>
    <p:sldId id="261" r:id="rId3"/>
    <p:sldId id="257" r:id="rId4"/>
    <p:sldId id="263" r:id="rId5"/>
    <p:sldId id="267" r:id="rId6"/>
    <p:sldId id="258" r:id="rId7"/>
    <p:sldId id="268" r:id="rId8"/>
    <p:sldId id="264" r:id="rId9"/>
    <p:sldId id="323" r:id="rId10"/>
    <p:sldId id="332" r:id="rId11"/>
    <p:sldId id="338" r:id="rId12"/>
    <p:sldId id="314" r:id="rId13"/>
    <p:sldId id="289" r:id="rId14"/>
    <p:sldId id="324" r:id="rId15"/>
    <p:sldId id="291" r:id="rId16"/>
    <p:sldId id="292" r:id="rId17"/>
    <p:sldId id="293" r:id="rId18"/>
    <p:sldId id="294" r:id="rId19"/>
    <p:sldId id="307" r:id="rId20"/>
    <p:sldId id="296" r:id="rId21"/>
    <p:sldId id="308" r:id="rId22"/>
    <p:sldId id="297" r:id="rId23"/>
    <p:sldId id="274" r:id="rId24"/>
    <p:sldId id="278" r:id="rId25"/>
    <p:sldId id="329" r:id="rId26"/>
    <p:sldId id="284" r:id="rId27"/>
    <p:sldId id="259" r:id="rId28"/>
    <p:sldId id="265" r:id="rId29"/>
    <p:sldId id="322" r:id="rId30"/>
    <p:sldId id="286" r:id="rId31"/>
    <p:sldId id="327" r:id="rId32"/>
    <p:sldId id="328" r:id="rId33"/>
    <p:sldId id="340" r:id="rId34"/>
    <p:sldId id="341" r:id="rId35"/>
    <p:sldId id="342" r:id="rId36"/>
    <p:sldId id="343" r:id="rId37"/>
    <p:sldId id="344" r:id="rId38"/>
    <p:sldId id="345" r:id="rId39"/>
    <p:sldId id="346" r:id="rId40"/>
    <p:sldId id="349" r:id="rId41"/>
    <p:sldId id="347" r:id="rId42"/>
    <p:sldId id="348" r:id="rId43"/>
    <p:sldId id="321" r:id="rId44"/>
    <p:sldId id="283" r:id="rId45"/>
    <p:sldId id="317" r:id="rId46"/>
    <p:sldId id="316" r:id="rId47"/>
    <p:sldId id="318" r:id="rId48"/>
    <p:sldId id="320" r:id="rId49"/>
    <p:sldId id="276" r:id="rId50"/>
    <p:sldId id="319" r:id="rId51"/>
    <p:sldId id="325" r:id="rId52"/>
    <p:sldId id="326" r:id="rId53"/>
    <p:sldId id="315" r:id="rId54"/>
    <p:sldId id="260" r:id="rId55"/>
    <p:sldId id="350" r:id="rId56"/>
    <p:sldId id="333" r:id="rId57"/>
    <p:sldId id="339" r:id="rId58"/>
    <p:sldId id="302" r:id="rId59"/>
    <p:sldId id="271" r:id="rId60"/>
    <p:sldId id="262" r:id="rId61"/>
    <p:sldId id="285" r:id="rId62"/>
    <p:sldId id="311" r:id="rId63"/>
    <p:sldId id="309" r:id="rId64"/>
    <p:sldId id="310" r:id="rId65"/>
    <p:sldId id="330" r:id="rId66"/>
    <p:sldId id="331" r:id="rId6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6B9B3B8-E8A7-7C48-9578-AACF2DC9A203}">
          <p14:sldIdLst>
            <p14:sldId id="256"/>
          </p14:sldIdLst>
        </p14:section>
        <p14:section name="Summary Section" id="{C4CA3B2B-B1C0-4F42-84A5-6154E501C626}">
          <p14:sldIdLst>
            <p14:sldId id="261"/>
          </p14:sldIdLst>
        </p14:section>
        <p14:section name="Problem &amp; Approach" id="{1AD3CF67-E368-B844-8E3E-27CF9EA1D091}">
          <p14:sldIdLst>
            <p14:sldId id="257"/>
            <p14:sldId id="263"/>
            <p14:sldId id="267"/>
          </p14:sldIdLst>
        </p14:section>
        <p14:section name="Data &amp; Methodology" id="{AE2523E6-AA9A-C14A-AB65-9D490CD5D0DE}">
          <p14:sldIdLst>
            <p14:sldId id="258"/>
            <p14:sldId id="268"/>
            <p14:sldId id="264"/>
            <p14:sldId id="323"/>
            <p14:sldId id="332"/>
            <p14:sldId id="338"/>
            <p14:sldId id="314"/>
            <p14:sldId id="289"/>
            <p14:sldId id="324"/>
            <p14:sldId id="291"/>
            <p14:sldId id="292"/>
            <p14:sldId id="293"/>
            <p14:sldId id="294"/>
            <p14:sldId id="307"/>
            <p14:sldId id="296"/>
            <p14:sldId id="308"/>
            <p14:sldId id="297"/>
            <p14:sldId id="274"/>
            <p14:sldId id="278"/>
            <p14:sldId id="329"/>
            <p14:sldId id="284"/>
          </p14:sldIdLst>
        </p14:section>
        <p14:section name="Results" id="{F58BCF7F-F411-AA43-9A8B-1079EAF74D98}">
          <p14:sldIdLst>
            <p14:sldId id="259"/>
            <p14:sldId id="265"/>
            <p14:sldId id="322"/>
            <p14:sldId id="286"/>
            <p14:sldId id="327"/>
            <p14:sldId id="328"/>
            <p14:sldId id="340"/>
            <p14:sldId id="341"/>
            <p14:sldId id="342"/>
            <p14:sldId id="343"/>
            <p14:sldId id="344"/>
            <p14:sldId id="345"/>
            <p14:sldId id="346"/>
            <p14:sldId id="349"/>
            <p14:sldId id="347"/>
            <p14:sldId id="348"/>
            <p14:sldId id="321"/>
            <p14:sldId id="283"/>
            <p14:sldId id="317"/>
            <p14:sldId id="316"/>
            <p14:sldId id="318"/>
            <p14:sldId id="320"/>
            <p14:sldId id="276"/>
            <p14:sldId id="319"/>
            <p14:sldId id="325"/>
            <p14:sldId id="326"/>
            <p14:sldId id="315"/>
          </p14:sldIdLst>
        </p14:section>
        <p14:section name="Interpretation &amp; Takeaways" id="{1540D386-E8E1-CD46-9D62-B71FEDE3C892}">
          <p14:sldIdLst>
            <p14:sldId id="260"/>
            <p14:sldId id="350"/>
            <p14:sldId id="333"/>
            <p14:sldId id="339"/>
            <p14:sldId id="302"/>
            <p14:sldId id="271"/>
            <p14:sldId id="262"/>
            <p14:sldId id="285"/>
            <p14:sldId id="311"/>
            <p14:sldId id="309"/>
            <p14:sldId id="310"/>
            <p14:sldId id="330"/>
            <p14:sldId id="33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96AF6C-0822-2320-E64D-0291FB0E0CBA}" name="Dudko  Michal" initials="MD" userId="S::mdudko@ethz.ch::19ea8be3-fcbd-492f-9a3b-c169021ad9e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59D202-664F-6549-9E9E-D9299A9B9C0F}" v="1852" dt="2025-11-19T23:36:32.199"/>
    <p1510:client id="{8C032C7C-EE66-A825-FFC1-C97AED2BFE7D}" v="1515" dt="2025-11-19T21:03:15.030"/>
    <p1510:client id="{8E79D34B-FD56-B17E-3981-BFEC6655DF08}" v="128" dt="2025-11-19T02:33:38.076"/>
    <p1510:client id="{CEBEEB60-810C-3ABA-6D64-FE8B93092B0E}" v="1324" dt="2025-11-19T23:25:04.0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5"/>
  </p:normalViewPr>
  <p:slideViewPr>
    <p:cSldViewPr snapToGrid="0">
      <p:cViewPr varScale="1">
        <p:scale>
          <a:sx n="123" d="100"/>
          <a:sy n="123" d="100"/>
        </p:scale>
        <p:origin x="2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8/10/relationships/authors" Target="author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heme" Target="theme/theme1.xml"/></Relationships>
</file>

<file path=ppt/comments/modernComment_10C_FAE7809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8C04062-0BA8-3948-86D4-EBF071AE0B5F}" authorId="{CB96AF6C-0822-2320-E64D-0291FB0E0CBA}" created="2025-11-19T21:37:26.67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209475741" sldId="268"/>
      <ac:spMk id="3" creationId="{9DC02594-BBEA-A88D-0DA8-9F9C35D37019}"/>
      <ac:txMk cp="25" len="3">
        <ac:context len="294" hash="1720017997"/>
      </ac:txMk>
    </ac:txMkLst>
    <p188:pos x="3191009" y="248401"/>
    <p188:txBody>
      <a:bodyPr/>
      <a:lstStyle/>
      <a:p>
        <a:r>
          <a:rPr lang="en-GB"/>
          <a:t>oder lieber KOF?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5A299F-741F-0844-AB4D-655423E984EC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922158-F3FF-AF42-A6AC-3B8878221E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805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22158-F3FF-AF42-A6AC-3B8878221EF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76824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22158-F3FF-AF42-A6AC-3B8878221EF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3254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EFEB1-910B-562B-DD10-4BC64BF97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15A535-C3CD-59F5-5FC8-7599EF97BE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4F3D28-B9CA-49CE-9C34-90C1314B9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7EAB8-D707-154F-1C63-F3D76709A1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22158-F3FF-AF42-A6AC-3B8878221EF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28822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BEB1D-3261-347F-91D1-BAEAD6506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1CEEF6-0FC2-7EDC-A61C-1214E73C2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A90016-2F40-D453-2755-6438776A1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9205F-89DD-4E64-91F4-E1A24B2FE2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22158-F3FF-AF42-A6AC-3B8878221EF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4646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DBA25-B26C-9F6D-5AAC-2A88030AA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3DAE72-C80D-10DB-DA32-2C9351AE2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71B3BF-7FFC-E97A-47F2-E61FAC77B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Alles bis </a:t>
            </a:r>
            <a:r>
              <a:rPr lang="en-GB" err="1"/>
              <a:t>hier</a:t>
            </a:r>
            <a:r>
              <a:rPr lang="en-GB"/>
              <a:t> Minna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44BD6-8FEB-A850-DA77-7D474302A6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22158-F3FF-AF42-A6AC-3B8878221EF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61749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35D3A-56CF-4E1A-AD93-A9FCF305B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358C0B-67F2-B985-D008-5F25262322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B66955-5CE5-02B9-89ED-1C951D24F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Alles bis </a:t>
            </a:r>
            <a:r>
              <a:rPr lang="en-GB" err="1"/>
              <a:t>hier</a:t>
            </a:r>
            <a:r>
              <a:rPr lang="en-GB"/>
              <a:t> Minna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955F2-88CD-320E-1213-ECB347A9F6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22158-F3FF-AF42-A6AC-3B8878221EF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96567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22158-F3FF-AF42-A6AC-3B8878221EF1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14047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Michal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22158-F3FF-AF42-A6AC-3B8878221EF1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21263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549CA-1C24-86A5-BB57-D4D40D172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0B09FD-B01E-1CF9-A567-7655758AD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A3585-5DDF-3229-64F4-0DBDF025C0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1F36F-2316-F9C8-7B85-ACB745AE40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22158-F3FF-AF42-A6AC-3B8878221EF1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1123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Minna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22158-F3FF-AF42-A6AC-3B8878221EF1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85573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Michal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22158-F3FF-AF42-A6AC-3B8878221EF1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86374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6FF28-7ECE-9881-9548-F4937CE1A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9D0E1F-2B29-8E12-CBA7-B085C05F75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76524E-5EA7-05C8-0A1E-3ED8F2A62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Michal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572A7-9F7A-EC8C-8CEB-BCB1503077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22158-F3FF-AF42-A6AC-3B8878221EF1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51588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22158-F3FF-AF42-A6AC-3B8878221EF1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25076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err="1"/>
              <a:t>Wichtig</a:t>
            </a:r>
            <a:r>
              <a:rPr lang="en-GB"/>
              <a:t> </a:t>
            </a:r>
            <a:r>
              <a:rPr lang="en-GB" err="1"/>
              <a:t>zum</a:t>
            </a:r>
            <a:r>
              <a:rPr lang="en-GB"/>
              <a:t> </a:t>
            </a:r>
            <a:r>
              <a:rPr lang="en-GB" err="1"/>
              <a:t>abschluss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22158-F3FF-AF42-A6AC-3B8878221EF1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81979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State Secretariat for Economic Affairs from this Monday.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22158-F3FF-AF42-A6AC-3B8878221EF1}" type="slidenum">
              <a:rPr lang="en-GB" smtClean="0"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40491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Michal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22158-F3FF-AF42-A6AC-3B8878221EF1}" type="slidenum">
              <a:rPr lang="en-GB" smtClean="0"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34694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3DF01-3D53-A785-76A4-E451AA053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18F438-4B37-48AD-CF69-74406826E5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881794-AD4F-378E-C3A4-8B474297A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EE5FA-2382-4950-7419-CB289D3150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22158-F3FF-AF42-A6AC-3B8878221EF1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7563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D2D19-71F6-B70E-3591-090284E81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87E4F8-BA2D-AB1E-B2AC-D404F3522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6EDD2F-23C7-BE2D-E982-B0A81B837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D1120-F59A-3682-C25B-F25AA68B68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22158-F3FF-AF42-A6AC-3B8878221EF1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654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1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3C296D1-2CD0-479F-A866-6EC741D229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GB" noProof="0"/>
              <a:t>Click icon to add picture</a:t>
            </a:r>
            <a:endParaRPr lang="de-CH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41BE31-9613-4103-99FF-7DCFF643B3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DEB298C-798E-4D73-9DD6-F896C06530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/>
              <a:t>Organisationseinheit verbal</a:t>
            </a:r>
            <a:br>
              <a:rPr lang="de-DE"/>
            </a:br>
            <a:r>
              <a:rPr lang="de-DE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740075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  <p15:guide id="5" pos="610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A01615F-450E-43D0-B554-DA3FBD48DF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0" tIns="0" rIns="5580000" anchor="ctr" anchorCtr="0"/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4000" y="2957494"/>
            <a:ext cx="5688000" cy="2268000"/>
          </a:xfrm>
          <a:solidFill>
            <a:schemeClr val="accent6"/>
          </a:solidFill>
        </p:spPr>
        <p:txBody>
          <a:bodyPr lIns="324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03A487C-8977-4264-A8A1-D6C1DB6046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5210" y="4639666"/>
            <a:ext cx="4320000" cy="46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E91D3734-CD8F-4F94-A813-570EF31C47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GB" noProof="0"/>
              <a:t>Click icon to add picture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547D2927-4A99-4714-8EBA-F773EAA263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/>
              <a:t>Organisationseinheit verbal</a:t>
            </a:r>
            <a:br>
              <a:rPr lang="de-DE"/>
            </a:br>
            <a:r>
              <a:rPr lang="de-DE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2525540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2D94F76-218E-49F2-87F8-05982912ED18}"/>
              </a:ext>
            </a:extLst>
          </p:cNvPr>
          <p:cNvSpPr/>
          <p:nvPr/>
        </p:nvSpPr>
        <p:spPr>
          <a:xfrm>
            <a:off x="731838" y="1016000"/>
            <a:ext cx="10728325" cy="5257800"/>
          </a:xfrm>
          <a:prstGeom prst="rect">
            <a:avLst/>
          </a:prstGeom>
          <a:solidFill>
            <a:srgbClr val="8E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940405"/>
            <a:ext cx="10188000" cy="3420000"/>
          </a:xfrm>
          <a:solidFill>
            <a:schemeClr val="accent3"/>
          </a:solidFill>
          <a:ln>
            <a:noFill/>
          </a:ln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503E57F-F89F-431B-8D38-7CC97B7C20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4217884"/>
            <a:ext cx="864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1BEB6197-C509-4752-B57E-CEE955F5D92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GB" noProof="0"/>
              <a:t>Click icon to add picture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4ADF7DEC-21BD-45CA-9E91-B9F58A69F6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/>
              <a:t>Organisationseinheit verbal</a:t>
            </a:r>
            <a:br>
              <a:rPr lang="de-DE"/>
            </a:br>
            <a:r>
              <a:rPr lang="de-DE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2741321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7" y="1016000"/>
            <a:ext cx="10728326" cy="5256000"/>
          </a:xfrm>
          <a:solidFill>
            <a:schemeClr val="accent6"/>
          </a:solidFill>
          <a:ln>
            <a:noFill/>
          </a:ln>
        </p:spPr>
        <p:txBody>
          <a:bodyPr lIns="324000" tIns="11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6" name="Textplatzhalter 3">
            <a:extLst>
              <a:ext uri="{FF2B5EF4-FFF2-40B4-BE49-F238E27FC236}">
                <a16:creationId xmlns:a16="http://schemas.microsoft.com/office/drawing/2014/main" id="{5FCAD79B-EF47-46A0-9575-229F3DAA7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5" y="5122625"/>
            <a:ext cx="10044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72236FC6-C8FF-43C1-86B9-BF11234592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GB" noProof="0"/>
              <a:t>Click icon to add picture</a:t>
            </a:r>
            <a:endParaRPr lang="de-CH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9A3267-E086-4EC3-A0BB-F8ECD01A5C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/>
              <a:t>Organisationseinheit verbal</a:t>
            </a:r>
            <a:br>
              <a:rPr lang="de-DE"/>
            </a:br>
            <a:r>
              <a:rPr lang="de-DE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3289209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 04 – Uni Zür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2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de-CH" noProof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93E2EDD-B19F-478D-BB03-AD55EC1E8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672" y="228020"/>
            <a:ext cx="3679200" cy="552508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364BCB8-820F-4C3A-BA37-7048A4C8D4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A73913C2-8DFE-4F15-B2DB-2A6D5C267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GB" noProof="0"/>
              <a:t>Click icon to add picture</a:t>
            </a:r>
            <a:endParaRPr lang="de-CH" noProof="0"/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791A1AD7-DB7D-4C75-BEFB-EB6D34D3B2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/>
              <a:t>Organisationseinheit verbal</a:t>
            </a:r>
            <a:br>
              <a:rPr lang="de-DE"/>
            </a:br>
            <a:r>
              <a:rPr lang="de-DE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1365583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39750" indent="-539750">
              <a:buFont typeface="+mj-lt"/>
              <a:buAutoNum type="arabicPeriod"/>
              <a:defRPr/>
            </a:lvl1pPr>
            <a:lvl2pPr marL="1079500" indent="-539750">
              <a:buFont typeface="+mj-lt"/>
              <a:buAutoNum type="arabicPeriod"/>
              <a:defRPr/>
            </a:lvl2pPr>
            <a:lvl3pPr marL="1612900" indent="-533400">
              <a:buFont typeface="+mj-lt"/>
              <a:buAutoNum type="arabicPeriod"/>
              <a:defRPr/>
            </a:lvl3pPr>
            <a:lvl4pPr marL="2152650" indent="-539750">
              <a:buFont typeface="+mj-lt"/>
              <a:buAutoNum type="arabicPeriod"/>
              <a:defRPr/>
            </a:lvl4pPr>
            <a:lvl5pPr marL="2692400" indent="-539750">
              <a:buFont typeface="+mj-lt"/>
              <a:buAutoNum type="arabicPeriod"/>
              <a:defRPr/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1ACA-88FD-2949-87D3-1AEA5F98A96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562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1ACA-88FD-2949-87D3-1AEA5F98A96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841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mit Fuss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0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1ACA-88FD-2949-87D3-1AEA5F98A96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F6D94FA-21C6-4AE0-AA4F-3A077810ED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836" y="5570135"/>
            <a:ext cx="5364164" cy="721233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69823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ischen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224781"/>
            <a:ext cx="10728325" cy="1260000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591ACA-88FD-2949-87D3-1AEA5F98A96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6EE42E8-1445-9A45-BA3B-6E6115BBC6D4}" type="slidenum">
              <a:rPr lang="en-GB" smtClean="0"/>
              <a:t>‹#›</a:t>
            </a:fld>
            <a:endParaRPr lang="en-GB"/>
          </a:p>
        </p:txBody>
      </p:sp>
      <p:grpSp>
        <p:nvGrpSpPr>
          <p:cNvPr id="10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GrpSpPr/>
          <p:nvPr/>
        </p:nvGrpSpPr>
        <p:grpSpPr>
          <a:xfrm>
            <a:off x="731837" y="6507088"/>
            <a:ext cx="984462" cy="162000"/>
            <a:chOff x="731837" y="6507088"/>
            <a:chExt cx="984462" cy="162000"/>
          </a:xfrm>
          <a:solidFill>
            <a:schemeClr val="bg1"/>
          </a:solidFill>
        </p:grpSpPr>
        <p:grpSp>
          <p:nvGrpSpPr>
            <p:cNvPr id="12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266489" y="6555186"/>
              <a:ext cx="197463" cy="110963"/>
              <a:chOff x="1266489" y="6555186"/>
              <a:chExt cx="197463" cy="110963"/>
            </a:xfrm>
            <a:grpFill/>
          </p:grpSpPr>
          <p:sp>
            <p:nvSpPr>
              <p:cNvPr id="13" name="Freihandform: Form 12">
                <a:extLst>
                  <a:ext uri="{FF2B5EF4-FFF2-40B4-BE49-F238E27FC236}">
                    <a16:creationId xmlns:a16="http://schemas.microsoft.com/office/drawing/2014/main" id="{18BB0752-F87C-44D9-A9A5-97AF1DEDA1AE}"/>
                  </a:ext>
                </a:extLst>
              </p:cNvPr>
              <p:cNvSpPr/>
              <p:nvPr/>
            </p:nvSpPr>
            <p:spPr>
              <a:xfrm>
                <a:off x="1266489" y="6556934"/>
                <a:ext cx="95902" cy="109216"/>
              </a:xfrm>
              <a:custGeom>
                <a:avLst/>
                <a:gdLst>
                  <a:gd name="connsiteX0" fmla="*/ 66742 w 95902"/>
                  <a:gd name="connsiteY0" fmla="*/ 65797 h 109216"/>
                  <a:gd name="connsiteX1" fmla="*/ 35339 w 95902"/>
                  <a:gd name="connsiteY1" fmla="*/ 95082 h 109216"/>
                  <a:gd name="connsiteX2" fmla="*/ 15953 w 95902"/>
                  <a:gd name="connsiteY2" fmla="*/ 79537 h 109216"/>
                  <a:gd name="connsiteX3" fmla="*/ 15899 w 95902"/>
                  <a:gd name="connsiteY3" fmla="*/ 76265 h 109216"/>
                  <a:gd name="connsiteX4" fmla="*/ 16896 w 95902"/>
                  <a:gd name="connsiteY4" fmla="*/ 66295 h 109216"/>
                  <a:gd name="connsiteX5" fmla="*/ 30230 w 95902"/>
                  <a:gd name="connsiteY5" fmla="*/ 0 h 109216"/>
                  <a:gd name="connsiteX6" fmla="*/ 30230 w 95902"/>
                  <a:gd name="connsiteY6" fmla="*/ 0 h 109216"/>
                  <a:gd name="connsiteX7" fmla="*/ 14528 w 95902"/>
                  <a:gd name="connsiteY7" fmla="*/ 0 h 109216"/>
                  <a:gd name="connsiteX8" fmla="*/ 1194 w 95902"/>
                  <a:gd name="connsiteY8" fmla="*/ 67791 h 109216"/>
                  <a:gd name="connsiteX9" fmla="*/ 1194 w 95902"/>
                  <a:gd name="connsiteY9" fmla="*/ 68788 h 109216"/>
                  <a:gd name="connsiteX10" fmla="*/ 73 w 95902"/>
                  <a:gd name="connsiteY10" fmla="*/ 78508 h 109216"/>
                  <a:gd name="connsiteX11" fmla="*/ 26638 w 95902"/>
                  <a:gd name="connsiteY11" fmla="*/ 109122 h 109216"/>
                  <a:gd name="connsiteX12" fmla="*/ 29980 w 95902"/>
                  <a:gd name="connsiteY12" fmla="*/ 109163 h 109216"/>
                  <a:gd name="connsiteX13" fmla="*/ 61384 w 95902"/>
                  <a:gd name="connsiteY13" fmla="*/ 96702 h 109216"/>
                  <a:gd name="connsiteX14" fmla="*/ 59265 w 95902"/>
                  <a:gd name="connsiteY14" fmla="*/ 107917 h 109216"/>
                  <a:gd name="connsiteX15" fmla="*/ 59265 w 95902"/>
                  <a:gd name="connsiteY15" fmla="*/ 107917 h 109216"/>
                  <a:gd name="connsiteX16" fmla="*/ 74842 w 95902"/>
                  <a:gd name="connsiteY16" fmla="*/ 107917 h 109216"/>
                  <a:gd name="connsiteX17" fmla="*/ 95902 w 95902"/>
                  <a:gd name="connsiteY17" fmla="*/ 0 h 109216"/>
                  <a:gd name="connsiteX18" fmla="*/ 95902 w 95902"/>
                  <a:gd name="connsiteY18" fmla="*/ 0 h 109216"/>
                  <a:gd name="connsiteX19" fmla="*/ 79951 w 95902"/>
                  <a:gd name="connsiteY19" fmla="*/ 0 h 109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5902" h="109216">
                    <a:moveTo>
                      <a:pt x="66742" y="65797"/>
                    </a:moveTo>
                    <a:cubicBezTo>
                      <a:pt x="65228" y="82115"/>
                      <a:pt x="51723" y="94709"/>
                      <a:pt x="35339" y="95082"/>
                    </a:cubicBezTo>
                    <a:cubicBezTo>
                      <a:pt x="25692" y="96142"/>
                      <a:pt x="17013" y="89183"/>
                      <a:pt x="15953" y="79537"/>
                    </a:cubicBezTo>
                    <a:cubicBezTo>
                      <a:pt x="15833" y="78450"/>
                      <a:pt x="15814" y="77355"/>
                      <a:pt x="15899" y="76265"/>
                    </a:cubicBezTo>
                    <a:cubicBezTo>
                      <a:pt x="15976" y="72921"/>
                      <a:pt x="16309" y="69588"/>
                      <a:pt x="16896" y="66295"/>
                    </a:cubicBezTo>
                    <a:lnTo>
                      <a:pt x="30230" y="0"/>
                    </a:lnTo>
                    <a:lnTo>
                      <a:pt x="30230" y="0"/>
                    </a:lnTo>
                    <a:lnTo>
                      <a:pt x="14528" y="0"/>
                    </a:lnTo>
                    <a:lnTo>
                      <a:pt x="1194" y="67791"/>
                    </a:lnTo>
                    <a:lnTo>
                      <a:pt x="1194" y="68788"/>
                    </a:lnTo>
                    <a:cubicBezTo>
                      <a:pt x="472" y="71978"/>
                      <a:pt x="95" y="75237"/>
                      <a:pt x="73" y="78508"/>
                    </a:cubicBezTo>
                    <a:cubicBezTo>
                      <a:pt x="-1045" y="94298"/>
                      <a:pt x="10848" y="108004"/>
                      <a:pt x="26638" y="109122"/>
                    </a:cubicBezTo>
                    <a:cubicBezTo>
                      <a:pt x="27751" y="109200"/>
                      <a:pt x="28866" y="109214"/>
                      <a:pt x="29980" y="109163"/>
                    </a:cubicBezTo>
                    <a:cubicBezTo>
                      <a:pt x="41760" y="109765"/>
                      <a:pt x="53221" y="105218"/>
                      <a:pt x="61384" y="96702"/>
                    </a:cubicBezTo>
                    <a:lnTo>
                      <a:pt x="59265" y="107917"/>
                    </a:lnTo>
                    <a:lnTo>
                      <a:pt x="59265" y="107917"/>
                    </a:lnTo>
                    <a:lnTo>
                      <a:pt x="74842" y="107917"/>
                    </a:lnTo>
                    <a:lnTo>
                      <a:pt x="95902" y="0"/>
                    </a:lnTo>
                    <a:lnTo>
                      <a:pt x="95902" y="0"/>
                    </a:lnTo>
                    <a:lnTo>
                      <a:pt x="79951" y="0"/>
                    </a:lnTo>
                    <a:close/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4" name="Freihandform: Form 13">
                <a:extLst>
                  <a:ext uri="{FF2B5EF4-FFF2-40B4-BE49-F238E27FC236}">
                    <a16:creationId xmlns:a16="http://schemas.microsoft.com/office/drawing/2014/main" id="{ED44DE23-7081-4AC9-BF06-502BEC71C004}"/>
                  </a:ext>
                </a:extLst>
              </p:cNvPr>
              <p:cNvSpPr/>
              <p:nvPr/>
            </p:nvSpPr>
            <p:spPr>
              <a:xfrm>
                <a:off x="1376472" y="6555186"/>
                <a:ext cx="87480" cy="109664"/>
              </a:xfrm>
              <a:custGeom>
                <a:avLst/>
                <a:gdLst>
                  <a:gd name="connsiteX0" fmla="*/ 64302 w 87480"/>
                  <a:gd name="connsiteY0" fmla="*/ 3 h 109664"/>
                  <a:gd name="connsiteX1" fmla="*/ 34518 w 87480"/>
                  <a:gd name="connsiteY1" fmla="*/ 14209 h 109664"/>
                  <a:gd name="connsiteX2" fmla="*/ 36886 w 87480"/>
                  <a:gd name="connsiteY2" fmla="*/ 1747 h 109664"/>
                  <a:gd name="connsiteX3" fmla="*/ 36886 w 87480"/>
                  <a:gd name="connsiteY3" fmla="*/ 1747 h 109664"/>
                  <a:gd name="connsiteX4" fmla="*/ 21434 w 87480"/>
                  <a:gd name="connsiteY4" fmla="*/ 1747 h 109664"/>
                  <a:gd name="connsiteX5" fmla="*/ 0 w 87480"/>
                  <a:gd name="connsiteY5" fmla="*/ 109664 h 109664"/>
                  <a:gd name="connsiteX6" fmla="*/ 0 w 87480"/>
                  <a:gd name="connsiteY6" fmla="*/ 109664 h 109664"/>
                  <a:gd name="connsiteX7" fmla="*/ 15826 w 87480"/>
                  <a:gd name="connsiteY7" fmla="*/ 109664 h 109664"/>
                  <a:gd name="connsiteX8" fmla="*/ 28288 w 87480"/>
                  <a:gd name="connsiteY8" fmla="*/ 43493 h 109664"/>
                  <a:gd name="connsiteX9" fmla="*/ 59940 w 87480"/>
                  <a:gd name="connsiteY9" fmla="*/ 14209 h 109664"/>
                  <a:gd name="connsiteX10" fmla="*/ 75019 w 87480"/>
                  <a:gd name="connsiteY10" fmla="*/ 21810 h 109664"/>
                  <a:gd name="connsiteX11" fmla="*/ 75019 w 87480"/>
                  <a:gd name="connsiteY11" fmla="*/ 21810 h 109664"/>
                  <a:gd name="connsiteX12" fmla="*/ 87480 w 87480"/>
                  <a:gd name="connsiteY12" fmla="*/ 10346 h 109664"/>
                  <a:gd name="connsiteX13" fmla="*/ 87480 w 87480"/>
                  <a:gd name="connsiteY13" fmla="*/ 10346 h 109664"/>
                  <a:gd name="connsiteX14" fmla="*/ 63928 w 87480"/>
                  <a:gd name="connsiteY14" fmla="*/ 252 h 10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7480" h="109664">
                    <a:moveTo>
                      <a:pt x="64302" y="3"/>
                    </a:moveTo>
                    <a:cubicBezTo>
                      <a:pt x="52709" y="-136"/>
                      <a:pt x="41706" y="5111"/>
                      <a:pt x="34518" y="14209"/>
                    </a:cubicBezTo>
                    <a:lnTo>
                      <a:pt x="36886" y="1747"/>
                    </a:lnTo>
                    <a:lnTo>
                      <a:pt x="36886" y="1747"/>
                    </a:lnTo>
                    <a:lnTo>
                      <a:pt x="21434" y="1747"/>
                    </a:lnTo>
                    <a:lnTo>
                      <a:pt x="0" y="109664"/>
                    </a:lnTo>
                    <a:lnTo>
                      <a:pt x="0" y="109664"/>
                    </a:lnTo>
                    <a:lnTo>
                      <a:pt x="15826" y="109664"/>
                    </a:lnTo>
                    <a:lnTo>
                      <a:pt x="28288" y="43493"/>
                    </a:lnTo>
                    <a:cubicBezTo>
                      <a:pt x="30515" y="27438"/>
                      <a:pt x="43760" y="15183"/>
                      <a:pt x="59940" y="14209"/>
                    </a:cubicBezTo>
                    <a:cubicBezTo>
                      <a:pt x="65919" y="14072"/>
                      <a:pt x="71573" y="16922"/>
                      <a:pt x="75019" y="21810"/>
                    </a:cubicBezTo>
                    <a:lnTo>
                      <a:pt x="75019" y="21810"/>
                    </a:lnTo>
                    <a:lnTo>
                      <a:pt x="87480" y="10346"/>
                    </a:lnTo>
                    <a:lnTo>
                      <a:pt x="87480" y="10346"/>
                    </a:lnTo>
                    <a:cubicBezTo>
                      <a:pt x="81552" y="3603"/>
                      <a:pt x="72899" y="-105"/>
                      <a:pt x="63928" y="2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18C24FD2-AEE2-43CA-8EB3-8E646C2E5E46}"/>
                </a:ext>
              </a:extLst>
            </p:cNvPr>
            <p:cNvSpPr/>
            <p:nvPr/>
          </p:nvSpPr>
          <p:spPr>
            <a:xfrm>
              <a:off x="1159517" y="6556560"/>
              <a:ext cx="96452" cy="108166"/>
            </a:xfrm>
            <a:custGeom>
              <a:avLst/>
              <a:gdLst>
                <a:gd name="connsiteX0" fmla="*/ 23303 w 96452"/>
                <a:gd name="connsiteY0" fmla="*/ 0 h 108166"/>
                <a:gd name="connsiteX1" fmla="*/ 20562 w 96452"/>
                <a:gd name="connsiteY1" fmla="*/ 13708 h 108166"/>
                <a:gd name="connsiteX2" fmla="*/ 20562 w 96452"/>
                <a:gd name="connsiteY2" fmla="*/ 13957 h 108166"/>
                <a:gd name="connsiteX3" fmla="*/ 74271 w 96452"/>
                <a:gd name="connsiteY3" fmla="*/ 13957 h 108166"/>
                <a:gd name="connsiteX4" fmla="*/ 2742 w 96452"/>
                <a:gd name="connsiteY4" fmla="*/ 94957 h 108166"/>
                <a:gd name="connsiteX5" fmla="*/ 2617 w 96452"/>
                <a:gd name="connsiteY5" fmla="*/ 94957 h 108166"/>
                <a:gd name="connsiteX6" fmla="*/ 0 w 96452"/>
                <a:gd name="connsiteY6" fmla="*/ 108166 h 108166"/>
                <a:gd name="connsiteX7" fmla="*/ 76265 w 96452"/>
                <a:gd name="connsiteY7" fmla="*/ 108166 h 108166"/>
                <a:gd name="connsiteX8" fmla="*/ 79006 w 96452"/>
                <a:gd name="connsiteY8" fmla="*/ 94209 h 108166"/>
                <a:gd name="connsiteX9" fmla="*/ 21932 w 96452"/>
                <a:gd name="connsiteY9" fmla="*/ 94209 h 108166"/>
                <a:gd name="connsiteX10" fmla="*/ 93835 w 96452"/>
                <a:gd name="connsiteY10" fmla="*/ 13209 h 108166"/>
                <a:gd name="connsiteX11" fmla="*/ 93835 w 96452"/>
                <a:gd name="connsiteY11" fmla="*/ 13209 h 108166"/>
                <a:gd name="connsiteX12" fmla="*/ 96452 w 96452"/>
                <a:gd name="connsiteY12" fmla="*/ 0 h 108166"/>
                <a:gd name="connsiteX13" fmla="*/ 23303 w 96452"/>
                <a:gd name="connsiteY13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6452" h="108166">
                  <a:moveTo>
                    <a:pt x="23303" y="0"/>
                  </a:moveTo>
                  <a:lnTo>
                    <a:pt x="20562" y="13708"/>
                  </a:lnTo>
                  <a:lnTo>
                    <a:pt x="20562" y="13957"/>
                  </a:lnTo>
                  <a:lnTo>
                    <a:pt x="74271" y="13957"/>
                  </a:lnTo>
                  <a:lnTo>
                    <a:pt x="2742" y="94957"/>
                  </a:lnTo>
                  <a:lnTo>
                    <a:pt x="2617" y="94957"/>
                  </a:lnTo>
                  <a:lnTo>
                    <a:pt x="0" y="108166"/>
                  </a:lnTo>
                  <a:lnTo>
                    <a:pt x="76265" y="108166"/>
                  </a:lnTo>
                  <a:lnTo>
                    <a:pt x="79006" y="94209"/>
                  </a:lnTo>
                  <a:lnTo>
                    <a:pt x="21932" y="94209"/>
                  </a:lnTo>
                  <a:lnTo>
                    <a:pt x="93835" y="13209"/>
                  </a:lnTo>
                  <a:lnTo>
                    <a:pt x="93835" y="13209"/>
                  </a:lnTo>
                  <a:lnTo>
                    <a:pt x="96452" y="0"/>
                  </a:lnTo>
                  <a:lnTo>
                    <a:pt x="2330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EE7F6F4-4D2C-45B3-A061-9606B2BD36A7}"/>
                </a:ext>
              </a:extLst>
            </p:cNvPr>
            <p:cNvSpPr/>
            <p:nvPr/>
          </p:nvSpPr>
          <p:spPr>
            <a:xfrm>
              <a:off x="1466445" y="6556560"/>
              <a:ext cx="37259" cy="108166"/>
            </a:xfrm>
            <a:custGeom>
              <a:avLst/>
              <a:gdLst>
                <a:gd name="connsiteX0" fmla="*/ 21683 w 37259"/>
                <a:gd name="connsiteY0" fmla="*/ 0 h 108166"/>
                <a:gd name="connsiteX1" fmla="*/ 0 w 37259"/>
                <a:gd name="connsiteY1" fmla="*/ 107917 h 108166"/>
                <a:gd name="connsiteX2" fmla="*/ 0 w 37259"/>
                <a:gd name="connsiteY2" fmla="*/ 108166 h 108166"/>
                <a:gd name="connsiteX3" fmla="*/ 15702 w 37259"/>
                <a:gd name="connsiteY3" fmla="*/ 108166 h 108166"/>
                <a:gd name="connsiteX4" fmla="*/ 37260 w 37259"/>
                <a:gd name="connsiteY4" fmla="*/ 0 h 108166"/>
                <a:gd name="connsiteX5" fmla="*/ 21683 w 37259"/>
                <a:gd name="connsiteY5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59" h="108166">
                  <a:moveTo>
                    <a:pt x="21683" y="0"/>
                  </a:moveTo>
                  <a:lnTo>
                    <a:pt x="0" y="107917"/>
                  </a:lnTo>
                  <a:lnTo>
                    <a:pt x="0" y="108166"/>
                  </a:lnTo>
                  <a:lnTo>
                    <a:pt x="15702" y="108166"/>
                  </a:lnTo>
                  <a:lnTo>
                    <a:pt x="37260" y="0"/>
                  </a:lnTo>
                  <a:lnTo>
                    <a:pt x="2168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grpSp>
          <p:nvGrpSpPr>
            <p:cNvPr id="17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518879" y="6507337"/>
              <a:ext cx="191395" cy="158803"/>
              <a:chOff x="1518879" y="6507337"/>
              <a:chExt cx="191395" cy="158803"/>
            </a:xfrm>
            <a:grpFill/>
          </p:grpSpPr>
          <p:sp>
            <p:nvSpPr>
              <p:cNvPr id="18" name="Freihandform: Form 17">
                <a:extLst>
                  <a:ext uri="{FF2B5EF4-FFF2-40B4-BE49-F238E27FC236}">
                    <a16:creationId xmlns:a16="http://schemas.microsoft.com/office/drawing/2014/main" id="{B2186F78-5D28-4695-8B1C-5A3F1A53AAB3}"/>
                  </a:ext>
                </a:extLst>
              </p:cNvPr>
              <p:cNvSpPr/>
              <p:nvPr/>
            </p:nvSpPr>
            <p:spPr>
              <a:xfrm>
                <a:off x="1614114" y="6507337"/>
                <a:ext cx="96160" cy="157638"/>
              </a:xfrm>
              <a:custGeom>
                <a:avLst/>
                <a:gdLst>
                  <a:gd name="connsiteX0" fmla="*/ 66046 w 96160"/>
                  <a:gd name="connsiteY0" fmla="*/ 47852 h 157638"/>
                  <a:gd name="connsiteX1" fmla="*/ 35142 w 96160"/>
                  <a:gd name="connsiteY1" fmla="*/ 60314 h 157638"/>
                  <a:gd name="connsiteX2" fmla="*/ 47603 w 96160"/>
                  <a:gd name="connsiteY2" fmla="*/ 0 h 157638"/>
                  <a:gd name="connsiteX3" fmla="*/ 31652 w 96160"/>
                  <a:gd name="connsiteY3" fmla="*/ 0 h 157638"/>
                  <a:gd name="connsiteX4" fmla="*/ 0 w 96160"/>
                  <a:gd name="connsiteY4" fmla="*/ 157389 h 157638"/>
                  <a:gd name="connsiteX5" fmla="*/ 15701 w 96160"/>
                  <a:gd name="connsiteY5" fmla="*/ 157389 h 157638"/>
                  <a:gd name="connsiteX6" fmla="*/ 28911 w 96160"/>
                  <a:gd name="connsiteY6" fmla="*/ 91218 h 157638"/>
                  <a:gd name="connsiteX7" fmla="*/ 60563 w 96160"/>
                  <a:gd name="connsiteY7" fmla="*/ 62058 h 157638"/>
                  <a:gd name="connsiteX8" fmla="*/ 79837 w 96160"/>
                  <a:gd name="connsiteY8" fmla="*/ 77742 h 157638"/>
                  <a:gd name="connsiteX9" fmla="*/ 79878 w 96160"/>
                  <a:gd name="connsiteY9" fmla="*/ 80875 h 157638"/>
                  <a:gd name="connsiteX10" fmla="*/ 78757 w 96160"/>
                  <a:gd name="connsiteY10" fmla="*/ 90969 h 157638"/>
                  <a:gd name="connsiteX11" fmla="*/ 65423 w 96160"/>
                  <a:gd name="connsiteY11" fmla="*/ 157638 h 157638"/>
                  <a:gd name="connsiteX12" fmla="*/ 81125 w 96160"/>
                  <a:gd name="connsiteY12" fmla="*/ 157638 h 157638"/>
                  <a:gd name="connsiteX13" fmla="*/ 94957 w 96160"/>
                  <a:gd name="connsiteY13" fmla="*/ 89474 h 157638"/>
                  <a:gd name="connsiteX14" fmla="*/ 96078 w 96160"/>
                  <a:gd name="connsiteY14" fmla="*/ 78757 h 157638"/>
                  <a:gd name="connsiteX15" fmla="*/ 69522 w 96160"/>
                  <a:gd name="connsiteY15" fmla="*/ 47902 h 157638"/>
                  <a:gd name="connsiteX16" fmla="*/ 66046 w 96160"/>
                  <a:gd name="connsiteY16" fmla="*/ 47852 h 157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6160" h="157638">
                    <a:moveTo>
                      <a:pt x="66046" y="47852"/>
                    </a:moveTo>
                    <a:cubicBezTo>
                      <a:pt x="54431" y="47363"/>
                      <a:pt x="43168" y="51904"/>
                      <a:pt x="35142" y="60314"/>
                    </a:cubicBezTo>
                    <a:lnTo>
                      <a:pt x="47603" y="0"/>
                    </a:lnTo>
                    <a:lnTo>
                      <a:pt x="31652" y="0"/>
                    </a:lnTo>
                    <a:lnTo>
                      <a:pt x="0" y="157389"/>
                    </a:lnTo>
                    <a:lnTo>
                      <a:pt x="15701" y="157389"/>
                    </a:lnTo>
                    <a:lnTo>
                      <a:pt x="28911" y="91218"/>
                    </a:lnTo>
                    <a:cubicBezTo>
                      <a:pt x="30603" y="74910"/>
                      <a:pt x="44170" y="62411"/>
                      <a:pt x="60563" y="62058"/>
                    </a:cubicBezTo>
                    <a:cubicBezTo>
                      <a:pt x="70216" y="61067"/>
                      <a:pt x="78845" y="68088"/>
                      <a:pt x="79837" y="77742"/>
                    </a:cubicBezTo>
                    <a:cubicBezTo>
                      <a:pt x="79945" y="78783"/>
                      <a:pt x="79958" y="79832"/>
                      <a:pt x="79878" y="80875"/>
                    </a:cubicBezTo>
                    <a:cubicBezTo>
                      <a:pt x="79822" y="84268"/>
                      <a:pt x="79446" y="87647"/>
                      <a:pt x="78757" y="90969"/>
                    </a:cubicBezTo>
                    <a:lnTo>
                      <a:pt x="65423" y="157638"/>
                    </a:lnTo>
                    <a:lnTo>
                      <a:pt x="81125" y="157638"/>
                    </a:lnTo>
                    <a:lnTo>
                      <a:pt x="94957" y="89474"/>
                    </a:lnTo>
                    <a:cubicBezTo>
                      <a:pt x="95657" y="85943"/>
                      <a:pt x="96034" y="82356"/>
                      <a:pt x="96078" y="78757"/>
                    </a:cubicBezTo>
                    <a:cubicBezTo>
                      <a:pt x="97265" y="62903"/>
                      <a:pt x="85375" y="49089"/>
                      <a:pt x="69522" y="47902"/>
                    </a:cubicBezTo>
                    <a:cubicBezTo>
                      <a:pt x="68365" y="47815"/>
                      <a:pt x="67205" y="47799"/>
                      <a:pt x="66046" y="478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9" name="Freihandform: Form 18">
                <a:extLst>
                  <a:ext uri="{FF2B5EF4-FFF2-40B4-BE49-F238E27FC236}">
                    <a16:creationId xmlns:a16="http://schemas.microsoft.com/office/drawing/2014/main" id="{1FE5475E-83C3-4BE3-BBF1-FAE9A6986B3F}"/>
                  </a:ext>
                </a:extLst>
              </p:cNvPr>
              <p:cNvSpPr/>
              <p:nvPr/>
            </p:nvSpPr>
            <p:spPr>
              <a:xfrm>
                <a:off x="1518879" y="6555189"/>
                <a:ext cx="87882" cy="110951"/>
              </a:xfrm>
              <a:custGeom>
                <a:avLst/>
                <a:gdLst>
                  <a:gd name="connsiteX0" fmla="*/ 56853 w 87882"/>
                  <a:gd name="connsiteY0" fmla="*/ 0 h 110951"/>
                  <a:gd name="connsiteX1" fmla="*/ 1649 w 87882"/>
                  <a:gd name="connsiteY1" fmla="*/ 55329 h 110951"/>
                  <a:gd name="connsiteX2" fmla="*/ 153 w 87882"/>
                  <a:gd name="connsiteY2" fmla="*/ 71903 h 110951"/>
                  <a:gd name="connsiteX3" fmla="*/ 32484 w 87882"/>
                  <a:gd name="connsiteY3" fmla="*/ 110801 h 110951"/>
                  <a:gd name="connsiteX4" fmla="*/ 37538 w 87882"/>
                  <a:gd name="connsiteY4" fmla="*/ 110908 h 110951"/>
                  <a:gd name="connsiteX5" fmla="*/ 73552 w 87882"/>
                  <a:gd name="connsiteY5" fmla="*/ 95705 h 110951"/>
                  <a:gd name="connsiteX6" fmla="*/ 73552 w 87882"/>
                  <a:gd name="connsiteY6" fmla="*/ 95705 h 110951"/>
                  <a:gd name="connsiteX7" fmla="*/ 64455 w 87882"/>
                  <a:gd name="connsiteY7" fmla="*/ 84614 h 110951"/>
                  <a:gd name="connsiteX8" fmla="*/ 64455 w 87882"/>
                  <a:gd name="connsiteY8" fmla="*/ 84614 h 110951"/>
                  <a:gd name="connsiteX9" fmla="*/ 64455 w 87882"/>
                  <a:gd name="connsiteY9" fmla="*/ 84614 h 110951"/>
                  <a:gd name="connsiteX10" fmla="*/ 38535 w 87882"/>
                  <a:gd name="connsiteY10" fmla="*/ 97075 h 110951"/>
                  <a:gd name="connsiteX11" fmla="*/ 15233 w 87882"/>
                  <a:gd name="connsiteY11" fmla="*/ 75551 h 110951"/>
                  <a:gd name="connsiteX12" fmla="*/ 15356 w 87882"/>
                  <a:gd name="connsiteY12" fmla="*/ 72152 h 110951"/>
                  <a:gd name="connsiteX13" fmla="*/ 17101 w 87882"/>
                  <a:gd name="connsiteY13" fmla="*/ 55952 h 110951"/>
                  <a:gd name="connsiteX14" fmla="*/ 31058 w 87882"/>
                  <a:gd name="connsiteY14" fmla="*/ 25048 h 110951"/>
                  <a:gd name="connsiteX15" fmla="*/ 55233 w 87882"/>
                  <a:gd name="connsiteY15" fmla="*/ 14206 h 110951"/>
                  <a:gd name="connsiteX16" fmla="*/ 76293 w 87882"/>
                  <a:gd name="connsiteY16" fmla="*/ 26668 h 110951"/>
                  <a:gd name="connsiteX17" fmla="*/ 76293 w 87882"/>
                  <a:gd name="connsiteY17" fmla="*/ 26668 h 110951"/>
                  <a:gd name="connsiteX18" fmla="*/ 87883 w 87882"/>
                  <a:gd name="connsiteY18" fmla="*/ 16823 h 110951"/>
                  <a:gd name="connsiteX19" fmla="*/ 87883 w 87882"/>
                  <a:gd name="connsiteY19" fmla="*/ 16823 h 110951"/>
                  <a:gd name="connsiteX20" fmla="*/ 56729 w 87882"/>
                  <a:gd name="connsiteY20" fmla="*/ 748 h 110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7882" h="110951">
                    <a:moveTo>
                      <a:pt x="56853" y="0"/>
                    </a:moveTo>
                    <a:cubicBezTo>
                      <a:pt x="28192" y="0"/>
                      <a:pt x="8129" y="20188"/>
                      <a:pt x="1649" y="55329"/>
                    </a:cubicBezTo>
                    <a:cubicBezTo>
                      <a:pt x="671" y="60800"/>
                      <a:pt x="170" y="66345"/>
                      <a:pt x="153" y="71903"/>
                    </a:cubicBezTo>
                    <a:cubicBezTo>
                      <a:pt x="-1660" y="91572"/>
                      <a:pt x="12814" y="108987"/>
                      <a:pt x="32484" y="110801"/>
                    </a:cubicBezTo>
                    <a:cubicBezTo>
                      <a:pt x="34163" y="110955"/>
                      <a:pt x="35853" y="110991"/>
                      <a:pt x="37538" y="110908"/>
                    </a:cubicBezTo>
                    <a:cubicBezTo>
                      <a:pt x="51112" y="110955"/>
                      <a:pt x="64118" y="105465"/>
                      <a:pt x="73552" y="95705"/>
                    </a:cubicBezTo>
                    <a:lnTo>
                      <a:pt x="73552" y="95705"/>
                    </a:lnTo>
                    <a:lnTo>
                      <a:pt x="64455" y="84614"/>
                    </a:lnTo>
                    <a:lnTo>
                      <a:pt x="64455" y="84614"/>
                    </a:lnTo>
                    <a:lnTo>
                      <a:pt x="64455" y="84614"/>
                    </a:lnTo>
                    <a:cubicBezTo>
                      <a:pt x="58138" y="92466"/>
                      <a:pt x="48613" y="97045"/>
                      <a:pt x="38535" y="97075"/>
                    </a:cubicBezTo>
                    <a:cubicBezTo>
                      <a:pt x="26157" y="97566"/>
                      <a:pt x="15724" y="87929"/>
                      <a:pt x="15233" y="75551"/>
                    </a:cubicBezTo>
                    <a:cubicBezTo>
                      <a:pt x="15188" y="74416"/>
                      <a:pt x="15229" y="73280"/>
                      <a:pt x="15356" y="72152"/>
                    </a:cubicBezTo>
                    <a:cubicBezTo>
                      <a:pt x="15424" y="66709"/>
                      <a:pt x="16008" y="61285"/>
                      <a:pt x="17101" y="55952"/>
                    </a:cubicBezTo>
                    <a:cubicBezTo>
                      <a:pt x="18838" y="44568"/>
                      <a:pt x="23666" y="33878"/>
                      <a:pt x="31058" y="25048"/>
                    </a:cubicBezTo>
                    <a:cubicBezTo>
                      <a:pt x="37213" y="18167"/>
                      <a:pt x="46002" y="14225"/>
                      <a:pt x="55233" y="14206"/>
                    </a:cubicBezTo>
                    <a:cubicBezTo>
                      <a:pt x="64085" y="13892"/>
                      <a:pt x="72308" y="18758"/>
                      <a:pt x="76293" y="26668"/>
                    </a:cubicBezTo>
                    <a:lnTo>
                      <a:pt x="76293" y="26668"/>
                    </a:lnTo>
                    <a:lnTo>
                      <a:pt x="87883" y="16823"/>
                    </a:lnTo>
                    <a:lnTo>
                      <a:pt x="87883" y="16823"/>
                    </a:lnTo>
                    <a:cubicBezTo>
                      <a:pt x="81104" y="6298"/>
                      <a:pt x="69235" y="174"/>
                      <a:pt x="56729" y="748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41B77B6E-E7CB-412B-95AC-A9322C6799BB}"/>
                </a:ext>
              </a:extLst>
            </p:cNvPr>
            <p:cNvSpPr/>
            <p:nvPr/>
          </p:nvSpPr>
          <p:spPr>
            <a:xfrm>
              <a:off x="1493985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832E5C1A-13CE-49A6-B590-B6EAA5F9E1AD}"/>
                </a:ext>
              </a:extLst>
            </p:cNvPr>
            <p:cNvSpPr/>
            <p:nvPr/>
          </p:nvSpPr>
          <p:spPr>
            <a:xfrm>
              <a:off x="1340708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63AE00B0-780F-4053-8FE9-B7D321217AFF}"/>
                </a:ext>
              </a:extLst>
            </p:cNvPr>
            <p:cNvSpPr/>
            <p:nvPr/>
          </p:nvSpPr>
          <p:spPr>
            <a:xfrm>
              <a:off x="1298712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702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702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2406CEAF-7399-4CCB-A322-03F0BA2532F5}"/>
                </a:ext>
              </a:extLst>
            </p:cNvPr>
            <p:cNvSpPr/>
            <p:nvPr/>
          </p:nvSpPr>
          <p:spPr>
            <a:xfrm>
              <a:off x="731837" y="6507088"/>
              <a:ext cx="417960" cy="157638"/>
            </a:xfrm>
            <a:custGeom>
              <a:avLst/>
              <a:gdLst>
                <a:gd name="connsiteX0" fmla="*/ 368612 w 417960"/>
                <a:gd name="connsiteY0" fmla="*/ 0 h 157638"/>
                <a:gd name="connsiteX1" fmla="*/ 356151 w 417960"/>
                <a:gd name="connsiteY1" fmla="*/ 61062 h 157638"/>
                <a:gd name="connsiteX2" fmla="*/ 320760 w 417960"/>
                <a:gd name="connsiteY2" fmla="*/ 61062 h 157638"/>
                <a:gd name="connsiteX3" fmla="*/ 333222 w 417960"/>
                <a:gd name="connsiteY3" fmla="*/ 0 h 157638"/>
                <a:gd name="connsiteX4" fmla="*/ 31652 w 417960"/>
                <a:gd name="connsiteY4" fmla="*/ 0 h 157638"/>
                <a:gd name="connsiteX5" fmla="*/ 0 w 417960"/>
                <a:gd name="connsiteY5" fmla="*/ 157638 h 157638"/>
                <a:gd name="connsiteX6" fmla="*/ 120254 w 417960"/>
                <a:gd name="connsiteY6" fmla="*/ 157638 h 157638"/>
                <a:gd name="connsiteX7" fmla="*/ 128105 w 417960"/>
                <a:gd name="connsiteY7" fmla="*/ 118260 h 157638"/>
                <a:gd name="connsiteX8" fmla="*/ 57074 w 417960"/>
                <a:gd name="connsiteY8" fmla="*/ 118260 h 157638"/>
                <a:gd name="connsiteX9" fmla="*/ 61435 w 417960"/>
                <a:gd name="connsiteY9" fmla="*/ 96577 h 157638"/>
                <a:gd name="connsiteX10" fmla="*/ 132342 w 417960"/>
                <a:gd name="connsiteY10" fmla="*/ 96577 h 157638"/>
                <a:gd name="connsiteX11" fmla="*/ 139569 w 417960"/>
                <a:gd name="connsiteY11" fmla="*/ 61062 h 157638"/>
                <a:gd name="connsiteX12" fmla="*/ 68538 w 417960"/>
                <a:gd name="connsiteY12" fmla="*/ 61062 h 157638"/>
                <a:gd name="connsiteX13" fmla="*/ 72900 w 417960"/>
                <a:gd name="connsiteY13" fmla="*/ 39378 h 157638"/>
                <a:gd name="connsiteX14" fmla="*/ 185303 w 417960"/>
                <a:gd name="connsiteY14" fmla="*/ 39378 h 157638"/>
                <a:gd name="connsiteX15" fmla="*/ 161626 w 417960"/>
                <a:gd name="connsiteY15" fmla="*/ 157638 h 157638"/>
                <a:gd name="connsiteX16" fmla="*/ 210849 w 417960"/>
                <a:gd name="connsiteY16" fmla="*/ 157638 h 157638"/>
                <a:gd name="connsiteX17" fmla="*/ 234651 w 417960"/>
                <a:gd name="connsiteY17" fmla="*/ 39378 h 157638"/>
                <a:gd name="connsiteX18" fmla="*/ 276023 w 417960"/>
                <a:gd name="connsiteY18" fmla="*/ 39378 h 157638"/>
                <a:gd name="connsiteX19" fmla="*/ 252222 w 417960"/>
                <a:gd name="connsiteY19" fmla="*/ 157638 h 157638"/>
                <a:gd name="connsiteX20" fmla="*/ 301569 w 417960"/>
                <a:gd name="connsiteY20" fmla="*/ 157638 h 157638"/>
                <a:gd name="connsiteX21" fmla="*/ 313657 w 417960"/>
                <a:gd name="connsiteY21" fmla="*/ 96577 h 157638"/>
                <a:gd name="connsiteX22" fmla="*/ 349172 w 417960"/>
                <a:gd name="connsiteY22" fmla="*/ 96577 h 157638"/>
                <a:gd name="connsiteX23" fmla="*/ 336960 w 417960"/>
                <a:gd name="connsiteY23" fmla="*/ 157638 h 157638"/>
                <a:gd name="connsiteX24" fmla="*/ 386308 w 417960"/>
                <a:gd name="connsiteY24" fmla="*/ 157638 h 157638"/>
                <a:gd name="connsiteX25" fmla="*/ 417960 w 417960"/>
                <a:gd name="connsiteY25" fmla="*/ 0 h 157638"/>
                <a:gd name="connsiteX26" fmla="*/ 368612 w 417960"/>
                <a:gd name="connsiteY26" fmla="*/ 0 h 1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17960" h="157638">
                  <a:moveTo>
                    <a:pt x="368612" y="0"/>
                  </a:moveTo>
                  <a:lnTo>
                    <a:pt x="356151" y="61062"/>
                  </a:lnTo>
                  <a:lnTo>
                    <a:pt x="320760" y="61062"/>
                  </a:lnTo>
                  <a:lnTo>
                    <a:pt x="333222" y="0"/>
                  </a:lnTo>
                  <a:lnTo>
                    <a:pt x="31652" y="0"/>
                  </a:lnTo>
                  <a:lnTo>
                    <a:pt x="0" y="157638"/>
                  </a:lnTo>
                  <a:lnTo>
                    <a:pt x="120254" y="157638"/>
                  </a:lnTo>
                  <a:lnTo>
                    <a:pt x="128105" y="118260"/>
                  </a:lnTo>
                  <a:lnTo>
                    <a:pt x="57074" y="118260"/>
                  </a:lnTo>
                  <a:lnTo>
                    <a:pt x="61435" y="96577"/>
                  </a:lnTo>
                  <a:lnTo>
                    <a:pt x="132342" y="96577"/>
                  </a:lnTo>
                  <a:lnTo>
                    <a:pt x="139569" y="61062"/>
                  </a:lnTo>
                  <a:lnTo>
                    <a:pt x="68538" y="61062"/>
                  </a:lnTo>
                  <a:lnTo>
                    <a:pt x="72900" y="39378"/>
                  </a:lnTo>
                  <a:lnTo>
                    <a:pt x="185303" y="39378"/>
                  </a:lnTo>
                  <a:lnTo>
                    <a:pt x="161626" y="157638"/>
                  </a:lnTo>
                  <a:lnTo>
                    <a:pt x="210849" y="157638"/>
                  </a:lnTo>
                  <a:lnTo>
                    <a:pt x="234651" y="39378"/>
                  </a:lnTo>
                  <a:lnTo>
                    <a:pt x="276023" y="39378"/>
                  </a:lnTo>
                  <a:lnTo>
                    <a:pt x="252222" y="157638"/>
                  </a:lnTo>
                  <a:lnTo>
                    <a:pt x="301569" y="157638"/>
                  </a:lnTo>
                  <a:lnTo>
                    <a:pt x="313657" y="96577"/>
                  </a:lnTo>
                  <a:lnTo>
                    <a:pt x="349172" y="96577"/>
                  </a:lnTo>
                  <a:lnTo>
                    <a:pt x="336960" y="157638"/>
                  </a:lnTo>
                  <a:lnTo>
                    <a:pt x="386308" y="157638"/>
                  </a:lnTo>
                  <a:lnTo>
                    <a:pt x="417960" y="0"/>
                  </a:lnTo>
                  <a:lnTo>
                    <a:pt x="368612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</p:grpSp>
    </p:spTree>
    <p:extLst>
      <p:ext uri="{BB962C8B-B14F-4D97-AF65-F5344CB8AC3E}">
        <p14:creationId xmlns:p14="http://schemas.microsoft.com/office/powerpoint/2010/main" val="2872846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1ACA-88FD-2949-87D3-1AEA5F98A96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1412874"/>
            <a:ext cx="10728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897925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1ACA-88FD-2949-87D3-1AEA5F98A96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260350"/>
            <a:ext cx="10728000" cy="6012524"/>
          </a:xfrm>
        </p:spPr>
        <p:txBody>
          <a:bodyPr tIns="2160000"/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875419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63" y="1412875"/>
            <a:ext cx="5256000" cy="4860000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1ACA-88FD-2949-87D3-1AEA5F98A96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040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01102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5121800"/>
            <a:ext cx="5255999" cy="1152000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1ACA-88FD-2949-87D3-1AEA5F98A96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4162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4162" y="5121800"/>
            <a:ext cx="5256001" cy="1152000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689856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4166439"/>
            <a:ext cx="10728327" cy="2124401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1ACA-88FD-2949-87D3-1AEA5F98A96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40162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85999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245156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"/>
          </a:xfrm>
        </p:spPr>
        <p:txBody>
          <a:bodyPr/>
          <a:lstStyle>
            <a:lvl1pPr marL="0" indent="0">
              <a:buNone/>
              <a:defRPr b="1"/>
            </a:lvl1pPr>
            <a:lvl2pPr marL="266700" indent="0">
              <a:buNone/>
              <a:defRPr b="1"/>
            </a:lvl2pPr>
            <a:lvl3pPr marL="538163" indent="0">
              <a:buNone/>
              <a:defRPr b="1"/>
            </a:lvl3pPr>
            <a:lvl4pPr marL="804862" indent="0">
              <a:buNone/>
              <a:defRPr b="1"/>
            </a:lvl4pPr>
            <a:lvl5pPr marL="1076325" indent="0">
              <a:buNone/>
              <a:defRPr b="1"/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1ACA-88FD-2949-87D3-1AEA5F98A96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A1D947E6-CC00-458E-BDE1-B0877E3033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31838" y="2061398"/>
            <a:ext cx="10728325" cy="4212401"/>
          </a:xfrm>
        </p:spPr>
        <p:txBody>
          <a:bodyPr tIns="126000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r>
              <a:rPr lang="en-GB" noProof="0"/>
              <a:t>Click icon to add table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553981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luss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394B20FF-3667-40DF-92A1-C6CF3BBC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35492"/>
            <a:ext cx="10728325" cy="39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540000" indent="0">
              <a:buNone/>
              <a:defRPr>
                <a:solidFill>
                  <a:schemeClr val="bg1"/>
                </a:solidFill>
              </a:defRPr>
            </a:lvl3pPr>
            <a:lvl4pPr marL="808537" indent="0">
              <a:buNone/>
              <a:defRPr>
                <a:solidFill>
                  <a:schemeClr val="bg1"/>
                </a:solidFill>
              </a:defRPr>
            </a:lvl4pPr>
            <a:lvl5pPr marL="108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794484F1-3B7F-46CE-AD0B-2310A557A9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icon to add picture</a:t>
            </a:r>
            <a:endParaRPr lang="de-CH" noProof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F900572E-A73E-42BE-96FA-38ADC4E79F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08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55976-E6F8-3A1E-F7E8-187ECF1D03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AA1F19-C554-B28C-BC81-E979979D1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843F3-C22D-BCFD-2C77-BE0799152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1ACA-88FD-2949-87D3-1AEA5F98A96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214EA-7E10-E777-CD82-2E954E7FE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1A5F6-6F87-6732-EF6E-6286FA830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4773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CEF804-E58C-481B-A606-7D35AF68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noProof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C6EC0D-393C-42F2-B6A7-B19C9B09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412875"/>
            <a:ext cx="10728325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/>
              <a:t>Mastertextformat bearbeiten</a:t>
            </a:r>
          </a:p>
          <a:p>
            <a:pPr lvl="1"/>
            <a:r>
              <a:rPr lang="de-CH" noProof="0"/>
              <a:t>Zweite Ebene</a:t>
            </a:r>
          </a:p>
          <a:p>
            <a:pPr lvl="2"/>
            <a:r>
              <a:rPr lang="de-CH" noProof="0"/>
              <a:t>Dritte Ebene</a:t>
            </a:r>
          </a:p>
          <a:p>
            <a:pPr lvl="3"/>
            <a:r>
              <a:rPr lang="de-CH" noProof="0"/>
              <a:t>Vierte Ebene</a:t>
            </a:r>
          </a:p>
          <a:p>
            <a:pPr lvl="4"/>
            <a:r>
              <a:rPr lang="de-CH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C96E51-36C9-4BEE-A761-33378A0DF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3692" y="6522444"/>
            <a:ext cx="612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BA591ACA-88FD-2949-87D3-1AEA5F98A96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1EC403-6E63-4450-AFDD-66CA49D6C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71700" y="6522444"/>
            <a:ext cx="540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DFCC57-7DDC-4B2C-A6BE-862DAF9C9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6EE42E8-1445-9A45-BA3B-6E6115BBC6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5471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61">
          <p15:clr>
            <a:srgbClr val="F26B43"/>
          </p15:clr>
        </p15:guide>
        <p15:guide id="3" pos="7219">
          <p15:clr>
            <a:srgbClr val="F26B43"/>
          </p15:clr>
        </p15:guide>
        <p15:guide id="4" orient="horz" pos="164">
          <p15:clr>
            <a:srgbClr val="F26B43"/>
          </p15:clr>
        </p15:guide>
        <p15:guide id="5" orient="horz" pos="890">
          <p15:clr>
            <a:srgbClr val="F26B43"/>
          </p15:clr>
        </p15:guide>
        <p15:guide id="6" orient="horz" pos="4201">
          <p15:clr>
            <a:srgbClr val="F26B43"/>
          </p15:clr>
        </p15:guide>
        <p15:guide id="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7.xml"/><Relationship Id="rId3" Type="http://schemas.openxmlformats.org/officeDocument/2006/relationships/image" Target="../media/image8.png"/><Relationship Id="rId7" Type="http://schemas.openxmlformats.org/officeDocument/2006/relationships/slide" Target="slide6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slide" Target="slide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slide" Target="slide5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C_FAE7809D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kargren/mfbvar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ddudko/methods-for-macro-forecasting-2025/tree/main/submission" TargetMode="Externa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68E06-ECAA-64A1-C502-7FA317AADF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noProof="0"/>
              <a:t>Mixed-Frequency Forecasting</a:t>
            </a:r>
            <a:br>
              <a:rPr lang="en-GB" noProof="0"/>
            </a:br>
            <a:r>
              <a:rPr lang="en-GB" noProof="0"/>
              <a:t>MIDAS vs MF-VAR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3D0B1-DF4E-52A7-3DAF-C9889B134A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noProof="0"/>
              <a:t>Minna Heim, Samuel Bartlett, Michal Dudko</a:t>
            </a:r>
          </a:p>
          <a:p>
            <a:endParaRPr lang="en-GB" noProof="0"/>
          </a:p>
          <a:p>
            <a:r>
              <a:rPr lang="en-GB" sz="1400" noProof="0"/>
              <a:t>Methods of Macroeconomic Forecasting – HS 2025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19DC565-1C07-2980-F225-80B8B2ADE3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0216E3-D026-E10B-6560-F6892FE645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60104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5" name="Summary Zoom 4">
                <a:extLst>
                  <a:ext uri="{FF2B5EF4-FFF2-40B4-BE49-F238E27FC236}">
                    <a16:creationId xmlns:a16="http://schemas.microsoft.com/office/drawing/2014/main" id="{9B4F8477-6FD4-FEBF-3838-D5DAD788F82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1912688"/>
                  </p:ext>
                </p:extLst>
              </p:nvPr>
            </p:nvGraphicFramePr>
            <p:xfrm>
              <a:off x="-312057" y="-293915"/>
              <a:ext cx="12816114" cy="7445829"/>
            </p:xfrm>
            <a:graphic>
              <a:graphicData uri="http://schemas.microsoft.com/office/powerpoint/2016/summaryzoom">
                <psuz:summaryZm>
                  <psuz:summaryZmObj sectionId="{1AD3CF67-E368-B844-8E3E-27CF9EA1D091}">
                    <psuz:zmPr id="{6C9C056D-3C16-324B-842A-559C507F5A3B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32670" y="370700"/>
                          <a:ext cx="5767251" cy="32440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AE2523E6-AA9A-C14A-AB65-9D490CD5D0DE}">
                    <psuz:zmPr id="{0B89C22F-2C31-0544-A7C7-3D5C303DD63A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6516193" y="370700"/>
                          <a:ext cx="5767251" cy="32440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F58BCF7F-F411-AA43-9A8B-1079EAF74D98}">
                    <psuz:zmPr id="{E87AC8C0-02DF-2142-8AB1-98E77C4F4A47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32670" y="3831051"/>
                          <a:ext cx="5767251" cy="32440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1540D386-E8E1-CD46-9D62-B71FEDE3C892}">
                    <psuz:zmPr id="{28AD89D7-3E27-FB4C-A340-174233B40119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6516193" y="3831051"/>
                          <a:ext cx="5767251" cy="32440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5" name="Summary Zoom 4">
                <a:extLst>
                  <a:ext uri="{FF2B5EF4-FFF2-40B4-BE49-F238E27FC236}">
                    <a16:creationId xmlns:a16="http://schemas.microsoft.com/office/drawing/2014/main" id="{9B4F8477-6FD4-FEBF-3838-D5DAD788F82B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-312057" y="-293915"/>
                <a:ext cx="12816114" cy="7445829"/>
                <a:chOff x="-312057" y="-293915"/>
                <a:chExt cx="12816114" cy="7445829"/>
              </a:xfrm>
            </p:grpSpPr>
            <p:pic>
              <p:nvPicPr>
                <p:cNvPr id="2" name="Picture 2">
                  <a:hlinkClick r:id="rId6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20613" y="76785"/>
                  <a:ext cx="5767251" cy="3244079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3" name="Picture 3">
                  <a:hlinkClick r:id="rId7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204136" y="76785"/>
                  <a:ext cx="5767251" cy="3244079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4" name="Picture 4">
                  <a:hlinkClick r:id="rId8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20613" y="3537136"/>
                  <a:ext cx="5767251" cy="3244079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6" name="Picture 6">
                  <a:hlinkClick r:id="rId9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204136" y="3537136"/>
                  <a:ext cx="5767251" cy="3244079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p:grpSp>
        </mc:Fallback>
      </mc:AlternateContent>
    </p:spTree>
    <p:extLst>
      <p:ext uri="{BB962C8B-B14F-4D97-AF65-F5344CB8AC3E}">
        <p14:creationId xmlns:p14="http://schemas.microsoft.com/office/powerpoint/2010/main" val="863433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FA2F521-6BAB-9C2E-8581-6B1E63B09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0"/>
            <a:ext cx="10728325" cy="6037943"/>
          </a:xfrm>
        </p:spPr>
        <p:txBody>
          <a:bodyPr anchor="ctr"/>
          <a:lstStyle/>
          <a:p>
            <a:r>
              <a:rPr lang="en-GB" sz="8800" noProof="0"/>
              <a:t>Problem &amp; </a:t>
            </a:r>
            <a:br>
              <a:rPr lang="en-GB" sz="8800" noProof="0"/>
            </a:br>
            <a:r>
              <a:rPr lang="en-GB" sz="8800" noProof="0"/>
              <a:t>Approach</a:t>
            </a:r>
          </a:p>
        </p:txBody>
      </p:sp>
    </p:spTree>
    <p:extLst>
      <p:ext uri="{BB962C8B-B14F-4D97-AF65-F5344CB8AC3E}">
        <p14:creationId xmlns:p14="http://schemas.microsoft.com/office/powerpoint/2010/main" val="4077888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FF9FAB-549E-0AFD-A394-D846A88EC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Motivation: Why mixed-frequency data?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2F2AC4-0F77-F538-7B4B-7C65DAAFF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69875" indent="-269875">
              <a:lnSpc>
                <a:spcPct val="250000"/>
              </a:lnSpc>
            </a:pPr>
            <a:r>
              <a:rPr lang="en-GB" noProof="0">
                <a:cs typeface="Arial"/>
              </a:rPr>
              <a:t>Data is published at </a:t>
            </a:r>
            <a:r>
              <a:rPr lang="en-GB" b="1" noProof="0">
                <a:cs typeface="Arial"/>
              </a:rPr>
              <a:t>different frequencies</a:t>
            </a:r>
          </a:p>
          <a:p>
            <a:pPr marL="269875" indent="-269875">
              <a:lnSpc>
                <a:spcPct val="250000"/>
              </a:lnSpc>
            </a:pPr>
            <a:r>
              <a:rPr lang="en-GB" b="1" noProof="0"/>
              <a:t>Avoid discarding </a:t>
            </a:r>
            <a:r>
              <a:rPr lang="en-GB" noProof="0"/>
              <a:t>timely high frequency </a:t>
            </a:r>
            <a:r>
              <a:rPr lang="en-GB" b="1" noProof="0"/>
              <a:t>data</a:t>
            </a:r>
            <a:r>
              <a:rPr lang="en-GB" noProof="0"/>
              <a:t> when forecasting low frequency targets</a:t>
            </a:r>
            <a:endParaRPr lang="en-GB" noProof="0">
              <a:cs typeface="Arial"/>
            </a:endParaRPr>
          </a:p>
          <a:p>
            <a:pPr marL="269875" indent="-269875">
              <a:lnSpc>
                <a:spcPct val="250000"/>
              </a:lnSpc>
            </a:pPr>
            <a:r>
              <a:rPr lang="en-GB" noProof="0"/>
              <a:t>Exploit </a:t>
            </a:r>
            <a:r>
              <a:rPr lang="en-GB" b="1" noProof="0"/>
              <a:t>ragged-edge information </a:t>
            </a:r>
            <a:r>
              <a:rPr lang="en-GB" noProof="0"/>
              <a:t>(latest months) without waiting for quarterly releases</a:t>
            </a:r>
            <a:endParaRPr lang="en-GB" noProof="0">
              <a:cs typeface="Arial"/>
            </a:endParaRPr>
          </a:p>
          <a:p>
            <a:pPr marL="269875" indent="-269875">
              <a:lnSpc>
                <a:spcPct val="250000"/>
              </a:lnSpc>
            </a:pPr>
            <a:r>
              <a:rPr lang="en-GB" noProof="0"/>
              <a:t>Improve </a:t>
            </a:r>
            <a:r>
              <a:rPr lang="en-GB" b="1" noProof="0"/>
              <a:t>short-horizon accuracy </a:t>
            </a:r>
            <a:r>
              <a:rPr lang="en-GB" noProof="0"/>
              <a:t>while retaining medium-horizon structure</a:t>
            </a:r>
            <a:endParaRPr lang="en-GB" noProof="0">
              <a:cs typeface="Arial"/>
            </a:endParaRPr>
          </a:p>
          <a:p>
            <a:pPr marL="0" indent="0">
              <a:lnSpc>
                <a:spcPct val="250000"/>
              </a:lnSpc>
              <a:buNone/>
            </a:pPr>
            <a:endParaRPr lang="en-GB" noProof="0"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FF2AAC-953F-74AD-DDC4-DE4DE4BC7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noProof="0" smtClean="0"/>
              <a:t>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90725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7B104-C6BC-458D-DB19-1ADCD21FC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Question: MIDAS vs. MF-VAR</a:t>
            </a:r>
            <a:br>
              <a:rPr lang="en-GB" noProof="0"/>
            </a:b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53FD4-679A-1E84-DB68-35189AA9A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69875" indent="-269875">
              <a:spcBef>
                <a:spcPts val="1200"/>
              </a:spcBef>
            </a:pPr>
            <a:r>
              <a:rPr lang="en-GB" b="1" noProof="0"/>
              <a:t>MIDAS</a:t>
            </a:r>
            <a:endParaRPr lang="en-US" b="1"/>
          </a:p>
          <a:p>
            <a:pPr marL="537845" lvl="1" indent="-271145">
              <a:spcBef>
                <a:spcPts val="1200"/>
              </a:spcBef>
            </a:pPr>
            <a:r>
              <a:rPr lang="en-GB" noProof="0"/>
              <a:t>Parsimonious distributed lags for high-frequency inputs</a:t>
            </a:r>
            <a:endParaRPr lang="en-GB" noProof="0">
              <a:cs typeface="Arial"/>
            </a:endParaRPr>
          </a:p>
          <a:p>
            <a:pPr marL="537845" lvl="1" indent="-271145">
              <a:spcBef>
                <a:spcPts val="1200"/>
              </a:spcBef>
            </a:pPr>
            <a:r>
              <a:rPr lang="en-GB" noProof="0"/>
              <a:t>Fast and robust</a:t>
            </a:r>
            <a:endParaRPr lang="en-GB" noProof="0">
              <a:cs typeface="Arial"/>
            </a:endParaRPr>
          </a:p>
          <a:p>
            <a:pPr marL="269875" indent="-269875">
              <a:lnSpc>
                <a:spcPct val="200000"/>
              </a:lnSpc>
              <a:spcBef>
                <a:spcPts val="1200"/>
              </a:spcBef>
            </a:pPr>
            <a:r>
              <a:rPr lang="en-GB" b="1" noProof="0"/>
              <a:t>MF-VAR package</a:t>
            </a:r>
            <a:endParaRPr lang="en-GB" b="1" noProof="0">
              <a:cs typeface="Arial"/>
            </a:endParaRPr>
          </a:p>
          <a:p>
            <a:pPr marL="537845" lvl="1" indent="-271145">
              <a:spcBef>
                <a:spcPts val="1200"/>
              </a:spcBef>
            </a:pPr>
            <a:r>
              <a:rPr lang="en-GB" noProof="0"/>
              <a:t>Full joint dynamics with Minnesota + IW priors</a:t>
            </a:r>
            <a:endParaRPr lang="en-GB" noProof="0">
              <a:cs typeface="Arial"/>
            </a:endParaRPr>
          </a:p>
          <a:p>
            <a:pPr marL="537845" lvl="1" indent="-271145">
              <a:spcBef>
                <a:spcPts val="1200"/>
              </a:spcBef>
            </a:pPr>
            <a:r>
              <a:rPr lang="en-GB" noProof="0"/>
              <a:t>Coherent forecasts</a:t>
            </a:r>
            <a:endParaRPr lang="en-GB" noProof="0">
              <a:cs typeface="Arial"/>
            </a:endParaRPr>
          </a:p>
          <a:p>
            <a:pPr marL="269875" indent="-269875">
              <a:lnSpc>
                <a:spcPct val="200000"/>
              </a:lnSpc>
              <a:spcBef>
                <a:spcPts val="1200"/>
              </a:spcBef>
            </a:pPr>
            <a:r>
              <a:rPr lang="en-GB" b="1" noProof="0"/>
              <a:t>MF-VAR </a:t>
            </a:r>
            <a:r>
              <a:rPr lang="en-GB" b="1"/>
              <a:t>implemented</a:t>
            </a:r>
            <a:r>
              <a:rPr lang="en-GB" b="1" noProof="0"/>
              <a:t> manually</a:t>
            </a:r>
            <a:endParaRPr lang="en-GB" b="1" noProof="0">
              <a:cs typeface="Arial"/>
            </a:endParaRPr>
          </a:p>
          <a:p>
            <a:pPr marL="537845" lvl="1" indent="-271145">
              <a:spcBef>
                <a:spcPts val="1200"/>
              </a:spcBef>
            </a:pPr>
            <a:r>
              <a:rPr lang="en-GB"/>
              <a:t>Due to lack of maintenance with original package</a:t>
            </a:r>
            <a:endParaRPr lang="en-GB" noProof="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A323E-A348-15AB-1538-65B823BA0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noProof="0" smtClean="0"/>
              <a:t>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8842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10C2A-4054-1B18-9285-8ED65DED5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0"/>
            <a:ext cx="10728325" cy="5994400"/>
          </a:xfrm>
        </p:spPr>
        <p:txBody>
          <a:bodyPr anchor="ctr"/>
          <a:lstStyle/>
          <a:p>
            <a:r>
              <a:rPr lang="en-GB" sz="8800" noProof="0"/>
              <a:t>Data &amp; </a:t>
            </a:r>
            <a:br>
              <a:rPr lang="en-GB" sz="8800" noProof="0"/>
            </a:br>
            <a:r>
              <a:rPr lang="en-GB" sz="8800" noProof="0"/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593003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E6E3C-0A8C-0E0F-1886-44E190A7D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Data</a:t>
            </a:r>
            <a:br>
              <a:rPr lang="en-GB" noProof="0"/>
            </a:b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02594-BBEA-A88D-0DA8-9F9C35D37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69875" indent="-269875"/>
            <a:r>
              <a:rPr lang="en-GB" b="1" noProof="0"/>
              <a:t>Quarterly</a:t>
            </a:r>
            <a:r>
              <a:rPr lang="en-GB" noProof="0"/>
              <a:t> (from provided csv): </a:t>
            </a:r>
          </a:p>
          <a:p>
            <a:pPr marL="537845" lvl="1" indent="-271145"/>
            <a:r>
              <a:rPr lang="en-GB" noProof="0"/>
              <a:t>GDP Growth </a:t>
            </a:r>
            <a:endParaRPr lang="en-GB" noProof="0">
              <a:cs typeface="Arial"/>
            </a:endParaRPr>
          </a:p>
          <a:p>
            <a:pPr marL="537845" lvl="1" indent="-271145"/>
            <a:r>
              <a:rPr lang="en-GB" noProof="0"/>
              <a:t>Inflation </a:t>
            </a:r>
            <a:endParaRPr lang="en-GB" noProof="0">
              <a:cs typeface="Arial"/>
            </a:endParaRPr>
          </a:p>
          <a:p>
            <a:pPr marL="537845" lvl="1" indent="-271145"/>
            <a:r>
              <a:rPr lang="en-GB" noProof="0"/>
              <a:t>CHF-EUR Exchange rate</a:t>
            </a:r>
            <a:endParaRPr lang="en-GB" noProof="0">
              <a:solidFill>
                <a:srgbClr val="FF0000"/>
              </a:solidFill>
              <a:cs typeface="Arial"/>
            </a:endParaRPr>
          </a:p>
          <a:p>
            <a:pPr marL="269875" indent="-269875">
              <a:spcBef>
                <a:spcPts val="2200"/>
              </a:spcBef>
            </a:pPr>
            <a:r>
              <a:rPr lang="en-GB" b="1" noProof="0"/>
              <a:t>Monthly</a:t>
            </a:r>
            <a:r>
              <a:rPr lang="en-GB" noProof="0"/>
              <a:t>:</a:t>
            </a:r>
            <a:endParaRPr lang="en-GB" noProof="0">
              <a:cs typeface="Arial"/>
            </a:endParaRPr>
          </a:p>
          <a:p>
            <a:pPr marL="537845" lvl="1" indent="-271145"/>
            <a:r>
              <a:rPr lang="en-GB" noProof="0"/>
              <a:t>Total registered unemployment (SNB)</a:t>
            </a:r>
            <a:endParaRPr lang="en-GB" i="1" noProof="0">
              <a:cs typeface="Arial"/>
            </a:endParaRPr>
          </a:p>
          <a:p>
            <a:pPr marL="537845" lvl="1" indent="-271145"/>
            <a:r>
              <a:rPr lang="en-GB" noProof="0"/>
              <a:t>CPI (SNB), inflation national index</a:t>
            </a:r>
            <a:endParaRPr lang="en-GB" i="1" noProof="0">
              <a:cs typeface="Arial"/>
            </a:endParaRPr>
          </a:p>
          <a:p>
            <a:pPr marL="537845" lvl="1" indent="-271145"/>
            <a:r>
              <a:rPr lang="en-GB" noProof="0"/>
              <a:t>Foreign exchange rate monthly average CHF-EUR (SNB)</a:t>
            </a:r>
            <a:endParaRPr lang="en-GB" i="1" noProof="0">
              <a:cs typeface="Arial"/>
            </a:endParaRPr>
          </a:p>
          <a:p>
            <a:pPr marL="537845" lvl="1" indent="-271145"/>
            <a:r>
              <a:rPr lang="en-GB" noProof="0"/>
              <a:t>SMI return (yahoo finance)</a:t>
            </a:r>
            <a:endParaRPr lang="en-GB" noProof="0">
              <a:cs typeface="Arial"/>
            </a:endParaRPr>
          </a:p>
          <a:p>
            <a:pPr marL="269875" indent="-269875">
              <a:spcBef>
                <a:spcPts val="2200"/>
              </a:spcBef>
            </a:pPr>
            <a:r>
              <a:rPr lang="en-GB" noProof="0"/>
              <a:t>MIDAS uses either MF-VAR </a:t>
            </a:r>
            <a:r>
              <a:rPr lang="en-GB" b="1" noProof="0"/>
              <a:t>latent states </a:t>
            </a:r>
            <a:r>
              <a:rPr lang="en-GB" noProof="0"/>
              <a:t>or </a:t>
            </a:r>
            <a:r>
              <a:rPr lang="en-GB" b="1" noProof="0"/>
              <a:t>KOF Barometer </a:t>
            </a:r>
            <a:endParaRPr lang="en-GB" b="1" noProof="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CA0C5-148B-A507-6F23-2DD426020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noProof="0" smtClean="0"/>
              <a:t>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0947574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AA8D5-CD3A-F4E4-0A94-DEA86856D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E409C2-4342-A446-1001-344DED4C3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Methodology</a:t>
            </a:r>
            <a:br>
              <a:rPr lang="en-GB" noProof="0"/>
            </a:br>
            <a:endParaRPr lang="en-GB" noProof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824093-F67B-5C12-6037-9ECAF7F76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50000"/>
              </a:lnSpc>
            </a:pPr>
            <a:r>
              <a:rPr lang="en-GB" b="1" noProof="0"/>
              <a:t>Separate implementation </a:t>
            </a:r>
            <a:r>
              <a:rPr lang="en-GB" noProof="0"/>
              <a:t>of our three approaches</a:t>
            </a:r>
          </a:p>
          <a:p>
            <a:pPr>
              <a:lnSpc>
                <a:spcPct val="250000"/>
              </a:lnSpc>
            </a:pPr>
            <a:r>
              <a:rPr lang="en-GB" b="1" noProof="0"/>
              <a:t>Combination</a:t>
            </a:r>
            <a:r>
              <a:rPr lang="en-GB" noProof="0"/>
              <a:t> and normalisation of code (such that it can run together)</a:t>
            </a:r>
          </a:p>
          <a:p>
            <a:pPr>
              <a:lnSpc>
                <a:spcPct val="250000"/>
              </a:lnSpc>
            </a:pPr>
            <a:r>
              <a:rPr lang="en-GB" noProof="0"/>
              <a:t>Creating and running </a:t>
            </a:r>
            <a:r>
              <a:rPr lang="en-GB" b="1" noProof="0"/>
              <a:t>combined benchmarks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164E76-D390-DA29-0BE3-8ECFECA74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noProof="0" smtClean="0"/>
              <a:t>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68257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4EDAF0-5DDB-365E-3F18-E9A15305D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MIDAS</a:t>
            </a:r>
          </a:p>
        </p:txBody>
      </p:sp>
    </p:spTree>
    <p:extLst>
      <p:ext uri="{BB962C8B-B14F-4D97-AF65-F5344CB8AC3E}">
        <p14:creationId xmlns:p14="http://schemas.microsoft.com/office/powerpoint/2010/main" val="3615197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E718C-69E4-D9B3-ABB1-805726791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FF988-71BB-44F8-086B-736C372BD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Methodology: MIDAS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53C8C-34E9-3D2D-E56F-ECF8CF861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noProof="0" smtClean="0"/>
              <a:t>10</a:t>
            </a:fld>
            <a:endParaRPr lang="en-GB" noProof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967F15-53A1-AB8D-32B3-DEAFEEF525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046"/>
          <a:stretch>
            <a:fillRect/>
          </a:stretch>
        </p:blipFill>
        <p:spPr>
          <a:xfrm>
            <a:off x="-1" y="710350"/>
            <a:ext cx="12192001" cy="438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158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D9278-CF03-1460-4007-680899578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DCC0B-0E80-C401-642F-21D7C2A75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Methodology: MIDAS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1426D8-EA13-97C5-33BF-55C75DB7A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noProof="0" smtClean="0"/>
              <a:t>11</a:t>
            </a:fld>
            <a:endParaRPr lang="en-GB" noProof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A05C44-096E-E148-6615-43EDD17C19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089"/>
          <a:stretch>
            <a:fillRect/>
          </a:stretch>
        </p:blipFill>
        <p:spPr>
          <a:xfrm>
            <a:off x="-2" y="808071"/>
            <a:ext cx="12192001" cy="438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640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F0803-EE2D-E33A-FB4B-19D30A014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67C20-72A4-6882-64F1-74532364F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Methodology: MIDAS – Final Models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66D98-B9FB-E37C-A032-2A56C4F67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noProof="0" smtClean="0"/>
              <a:t>12</a:t>
            </a:fld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F7579B-A7F2-C9C0-4888-5CB04F928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0351"/>
            <a:ext cx="12192000" cy="860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962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E93DA-4185-7665-45F8-65D845308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3D8D3-56B6-28D8-4682-22D06E34E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Methodology: MIDAS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2781D-7ED5-893D-6BFF-AC80DFD39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69875" indent="-269875">
              <a:lnSpc>
                <a:spcPct val="200000"/>
              </a:lnSpc>
            </a:pPr>
            <a:r>
              <a:rPr lang="en-GB" noProof="0"/>
              <a:t>Four distinct MIDAS versions</a:t>
            </a:r>
          </a:p>
          <a:p>
            <a:pPr marL="537845" lvl="1" indent="-271145">
              <a:lnSpc>
                <a:spcPct val="200000"/>
              </a:lnSpc>
            </a:pPr>
            <a:r>
              <a:rPr lang="en-GB" noProof="0"/>
              <a:t>KOF Baro without trend</a:t>
            </a:r>
            <a:endParaRPr lang="en-GB" noProof="0">
              <a:cs typeface="Arial"/>
            </a:endParaRPr>
          </a:p>
          <a:p>
            <a:pPr marL="537845" lvl="1" indent="-271145">
              <a:lnSpc>
                <a:spcPct val="200000"/>
              </a:lnSpc>
            </a:pPr>
            <a:r>
              <a:rPr lang="en-GB" noProof="0"/>
              <a:t>KOF Baro with trend </a:t>
            </a:r>
            <a:endParaRPr lang="en-GB" noProof="0">
              <a:cs typeface="Arial"/>
            </a:endParaRPr>
          </a:p>
          <a:p>
            <a:pPr marL="537845" lvl="1" indent="-271145">
              <a:lnSpc>
                <a:spcPct val="200000"/>
              </a:lnSpc>
            </a:pPr>
            <a:r>
              <a:rPr lang="en-GB" noProof="0"/>
              <a:t>MF-VAR latent states without trend</a:t>
            </a:r>
            <a:endParaRPr lang="en-GB" noProof="0">
              <a:cs typeface="Arial"/>
            </a:endParaRPr>
          </a:p>
          <a:p>
            <a:pPr marL="537845" lvl="1" indent="-271145">
              <a:lnSpc>
                <a:spcPct val="200000"/>
              </a:lnSpc>
            </a:pPr>
            <a:r>
              <a:rPr lang="en-GB" noProof="0"/>
              <a:t>MF-VAR latent states with trend </a:t>
            </a:r>
            <a:endParaRPr lang="en-GB" noProof="0">
              <a:cs typeface="Arial"/>
            </a:endParaRPr>
          </a:p>
          <a:p>
            <a:pPr marL="537845" lvl="1" indent="-271145">
              <a:lnSpc>
                <a:spcPct val="200000"/>
              </a:lnSpc>
            </a:pPr>
            <a:endParaRPr lang="en-GB" noProof="0">
              <a:cs typeface="Arial"/>
            </a:endParaRPr>
          </a:p>
          <a:p>
            <a:pPr marL="537845" lvl="1" indent="-271145">
              <a:lnSpc>
                <a:spcPct val="200000"/>
              </a:lnSpc>
            </a:pPr>
            <a:endParaRPr lang="en-GB" noProof="0">
              <a:cs typeface="Arial"/>
            </a:endParaRPr>
          </a:p>
          <a:p>
            <a:pPr marL="537845" lvl="1" indent="-271145">
              <a:lnSpc>
                <a:spcPct val="200000"/>
              </a:lnSpc>
            </a:pPr>
            <a:endParaRPr lang="en-GB" noProof="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CDAC6-7178-80DD-0B96-61A9E4A9D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noProof="0" smtClean="0"/>
              <a:t>13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19493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3BB5B2-2A1D-0908-3CDE-467C13FCE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MF-VAR</a:t>
            </a:r>
          </a:p>
        </p:txBody>
      </p:sp>
    </p:spTree>
    <p:extLst>
      <p:ext uri="{BB962C8B-B14F-4D97-AF65-F5344CB8AC3E}">
        <p14:creationId xmlns:p14="http://schemas.microsoft.com/office/powerpoint/2010/main" val="2455957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A06F9-410C-36D8-B4B9-9BE66CA45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>
                <a:ea typeface="+mj-lt"/>
                <a:cs typeface="+mj-lt"/>
              </a:rPr>
              <a:t>MF-VAR: Purpose and Core Structure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FD4D92-937A-A672-A17A-02DEF4434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10351"/>
            <a:ext cx="12273699" cy="8663788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EE79DF-8769-6692-B555-FF3ED939E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noProof="0" smtClean="0"/>
              <a:t>15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49869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5D0AA-F0D1-E1E9-EA94-CFF0A4FE8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>
                <a:cs typeface="Arial"/>
              </a:rPr>
              <a:t>MF-VAR: </a:t>
            </a:r>
            <a:r>
              <a:rPr lang="en-GB" noProof="0">
                <a:ea typeface="+mj-lt"/>
                <a:cs typeface="+mj-lt"/>
              </a:rPr>
              <a:t>State Representation</a:t>
            </a:r>
            <a:endParaRPr lang="en-GB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F959C9-078C-2D65-BA95-B5C9EAAD2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0351"/>
            <a:ext cx="12192000" cy="8606118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1EB171E-AC1B-CEA7-DC45-8A825D5B8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noProof="0" smtClean="0"/>
              <a:t>16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87604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F685C-5B5A-4326-724F-092747BB0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>
                <a:cs typeface="Arial"/>
              </a:rPr>
              <a:t>MF-VAR: </a:t>
            </a:r>
            <a:r>
              <a:rPr lang="en-GB" noProof="0">
                <a:ea typeface="+mj-lt"/>
                <a:cs typeface="+mj-lt"/>
              </a:rPr>
              <a:t>Measurement System</a:t>
            </a:r>
            <a:endParaRPr lang="en-GB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63900E-1E80-D762-B509-2EDE37468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0351"/>
            <a:ext cx="12192000" cy="8606118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81EB3D-61C1-63B0-588B-B8184714F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noProof="0" smtClean="0"/>
              <a:t>17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9029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AE8A2-C57F-5BC9-A952-FB58F742A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>
                <a:cs typeface="Arial"/>
              </a:rPr>
              <a:t>MF-VAR: </a:t>
            </a:r>
            <a:r>
              <a:rPr lang="en-GB" noProof="0">
                <a:ea typeface="+mj-lt"/>
                <a:cs typeface="+mj-lt"/>
              </a:rPr>
              <a:t>Bayesian Estimation and Minnesota Prior</a:t>
            </a:r>
            <a:endParaRPr lang="en-GB" noProof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EEB09D-63B3-102C-C376-E0678211AB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289"/>
          <a:stretch>
            <a:fillRect/>
          </a:stretch>
        </p:blipFill>
        <p:spPr>
          <a:xfrm>
            <a:off x="0" y="710351"/>
            <a:ext cx="12192000" cy="5483059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6C317-0FD3-F58C-6846-BF044EC44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noProof="0" smtClean="0"/>
              <a:t>18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77826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FB89E-4BE2-ADCD-DB9F-3518082B6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1F736-2387-4E95-3CEE-5C82820A5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>
                <a:cs typeface="Arial"/>
              </a:rPr>
              <a:t>MF-VAR: </a:t>
            </a:r>
            <a:r>
              <a:rPr lang="en-GB" noProof="0">
                <a:ea typeface="+mj-lt"/>
                <a:cs typeface="+mj-lt"/>
              </a:rPr>
              <a:t>Bayesian Estimation and Minnesota Prior</a:t>
            </a:r>
            <a:endParaRPr lang="en-GB" noProof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B09770-EC77-0572-A453-7D0431A939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849"/>
          <a:stretch>
            <a:fillRect/>
          </a:stretch>
        </p:blipFill>
        <p:spPr>
          <a:xfrm>
            <a:off x="0" y="833295"/>
            <a:ext cx="12192000" cy="328331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9D01D3-AEB0-1402-3138-32E4F21F3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noProof="0" smtClean="0"/>
              <a:t>19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57778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8BC30-744E-71A1-5A53-F0D55BD57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>
                <a:cs typeface="Arial"/>
              </a:rPr>
              <a:t>MF-VAR: </a:t>
            </a:r>
            <a:r>
              <a:rPr lang="en-GB" noProof="0">
                <a:ea typeface="+mj-lt"/>
                <a:cs typeface="+mj-lt"/>
              </a:rPr>
              <a:t>Hyperparameter Selection through the Marginal Data Density</a:t>
            </a:r>
            <a:endParaRPr lang="en-GB" noProof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06DAAE-7F8B-1E1F-8B7A-6CCDA6E2E8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019"/>
          <a:stretch>
            <a:fillRect/>
          </a:stretch>
        </p:blipFill>
        <p:spPr>
          <a:xfrm>
            <a:off x="0" y="710351"/>
            <a:ext cx="12192000" cy="387107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0627C-C03A-38C3-CE51-D53F6BF79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noProof="0" smtClean="0"/>
              <a:t>20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83416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7E69D-A2F4-A49C-1665-DBBAF1610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21DFD-BACC-D2C1-B665-B113543E8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>
                <a:cs typeface="Arial"/>
              </a:rPr>
              <a:t>MF-VAR: </a:t>
            </a:r>
            <a:r>
              <a:rPr lang="en-GB" noProof="0">
                <a:ea typeface="+mj-lt"/>
                <a:cs typeface="+mj-lt"/>
              </a:rPr>
              <a:t>Hyperparameter Selection through the Marginal Data Density</a:t>
            </a:r>
            <a:endParaRPr lang="en-GB" noProof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DE96A2-0AA5-2314-4A1A-657D3A010C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694"/>
          <a:stretch>
            <a:fillRect/>
          </a:stretch>
        </p:blipFill>
        <p:spPr>
          <a:xfrm>
            <a:off x="-1" y="694983"/>
            <a:ext cx="12192000" cy="501784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F53C4A-146F-FED5-D9E4-F64845B1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noProof="0" smtClean="0"/>
              <a:t>21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032635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17F60-DD67-FE99-70A3-C8D719C47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>
                <a:cs typeface="Arial"/>
              </a:rPr>
              <a:t>MF-VAR: </a:t>
            </a:r>
            <a:r>
              <a:rPr lang="en-GB" noProof="0">
                <a:ea typeface="+mj-lt"/>
                <a:cs typeface="+mj-lt"/>
              </a:rPr>
              <a:t>Forecasting</a:t>
            </a:r>
            <a:endParaRPr lang="en-GB" noProof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EA85EA-EA72-E5FC-DDF2-090189853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10351"/>
            <a:ext cx="12192000" cy="8606118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F47995-81DD-52D8-0EFB-6C1619540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noProof="0" smtClean="0"/>
              <a:t>22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340105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20271-944A-63D1-A53D-0F3932D25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83B21-2B9F-156B-080C-D4374D6C1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Methodology: MF-VAR Manual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DCB26-D66A-A503-97EE-E411A5375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noProof="0" smtClean="0"/>
              <a:t>23</a:t>
            </a:fld>
            <a:endParaRPr lang="en-GB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64BC25-7ACD-31FE-D19F-EBDE6C143A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39475"/>
          <a:stretch>
            <a:fillRect/>
          </a:stretch>
        </p:blipFill>
        <p:spPr>
          <a:xfrm>
            <a:off x="0" y="710351"/>
            <a:ext cx="12192000" cy="520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781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F3069-722D-BEDD-3C82-7DCB87D32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BE19F-EB86-274B-A732-294975C11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Methodology: MF-VAR 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B9E65-41B1-90FA-0E37-AE0A0F802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50000"/>
              </a:lnSpc>
            </a:pPr>
            <a:r>
              <a:rPr lang="en-GB" b="1"/>
              <a:t>m</a:t>
            </a:r>
            <a:r>
              <a:rPr lang="en-GB" b="1" noProof="0" err="1"/>
              <a:t>fbvar</a:t>
            </a:r>
            <a:r>
              <a:rPr lang="en-GB"/>
              <a:t> package</a:t>
            </a:r>
            <a:endParaRPr lang="en-GB" noProof="0"/>
          </a:p>
          <a:p>
            <a:pPr>
              <a:lnSpc>
                <a:spcPct val="250000"/>
              </a:lnSpc>
            </a:pPr>
            <a:r>
              <a:rPr lang="en-GB"/>
              <a:t>Not on CRAN, GitHub: </a:t>
            </a:r>
            <a:r>
              <a:rPr lang="en-GB">
                <a:hlinkClick r:id="rId3"/>
              </a:rPr>
              <a:t>https://github.com/ankargren/mfbvar</a:t>
            </a:r>
            <a:r>
              <a:rPr lang="en-GB"/>
              <a:t> </a:t>
            </a:r>
          </a:p>
          <a:p>
            <a:pPr>
              <a:lnSpc>
                <a:spcPct val="250000"/>
              </a:lnSpc>
            </a:pPr>
            <a:r>
              <a:rPr lang="en-GB" b="1"/>
              <a:t>Tuning</a:t>
            </a:r>
            <a:r>
              <a:rPr lang="en-GB"/>
              <a:t> overall</a:t>
            </a:r>
            <a:r>
              <a:rPr lang="en-GB" b="1"/>
              <a:t> tightness</a:t>
            </a:r>
            <a:r>
              <a:rPr lang="en-GB"/>
              <a:t>: trade-off of RMSE between variables (smaller lambda, worse exchange rate)</a:t>
            </a:r>
          </a:p>
          <a:p>
            <a:pPr>
              <a:lnSpc>
                <a:spcPct val="250000"/>
              </a:lnSpc>
            </a:pPr>
            <a:r>
              <a:rPr lang="en-GB"/>
              <a:t>Used </a:t>
            </a:r>
            <a:r>
              <a:rPr lang="en-GB" b="1"/>
              <a:t>defaults</a:t>
            </a:r>
            <a:r>
              <a:rPr lang="en-GB"/>
              <a:t> for other parameters</a:t>
            </a:r>
          </a:p>
          <a:p>
            <a:pPr>
              <a:lnSpc>
                <a:spcPct val="250000"/>
              </a:lnSpc>
            </a:pPr>
            <a:endParaRPr lang="en-GB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45694-5E15-D0A8-CBDB-6890DDF5F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noProof="0" smtClean="0"/>
              <a:t>24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627255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5DA8D-DDEF-C6DB-1BCE-DA3502F51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D8DF0-0D6B-5B5D-E793-039E8D9E6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Methodology: MF-VAR Manual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3097A-809E-CA3B-591B-55D0ABEFB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noProof="0" smtClean="0"/>
              <a:t>25</a:t>
            </a:fld>
            <a:endParaRPr lang="en-GB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9162E2-C55A-E025-B93D-87684B713B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442"/>
          <a:stretch>
            <a:fillRect/>
          </a:stretch>
        </p:blipFill>
        <p:spPr>
          <a:xfrm>
            <a:off x="-1" y="717331"/>
            <a:ext cx="12192000" cy="3662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3833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C4F07-0A02-764D-DE33-0446236C8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MIDAS vs MF-VAR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F1F0E-CA75-8C0B-ADE4-49B4D5DB0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GB" b="1">
                <a:cs typeface="Arial"/>
              </a:rPr>
              <a:t>Main Differences: </a:t>
            </a:r>
            <a:endParaRPr lang="en-GB" b="1" noProof="0">
              <a:cs typeface="Arial"/>
            </a:endParaRPr>
          </a:p>
          <a:p>
            <a:pPr marL="269875" indent="-269875">
              <a:lnSpc>
                <a:spcPct val="200000"/>
              </a:lnSpc>
              <a:buFont typeface="Calibri" panose="020B0604020202020204" pitchFamily="34" charset="0"/>
              <a:buChar char="-"/>
            </a:pPr>
            <a:r>
              <a:rPr lang="en-GB" noProof="0">
                <a:cs typeface="Arial"/>
              </a:rPr>
              <a:t>Cheap vs. Expensive</a:t>
            </a:r>
            <a:r>
              <a:rPr lang="en-GB">
                <a:cs typeface="Arial"/>
              </a:rPr>
              <a:t> (computationally)</a:t>
            </a:r>
            <a:endParaRPr lang="en-GB" noProof="0">
              <a:cs typeface="Arial"/>
            </a:endParaRPr>
          </a:p>
          <a:p>
            <a:pPr marL="269875" indent="-269875">
              <a:lnSpc>
                <a:spcPct val="200000"/>
              </a:lnSpc>
              <a:buFont typeface="Calibri" panose="020B0604020202020204" pitchFamily="34" charset="0"/>
              <a:buChar char="-"/>
            </a:pPr>
            <a:r>
              <a:rPr lang="en-GB">
                <a:ea typeface="+mn-lt"/>
                <a:cs typeface="+mn-lt"/>
              </a:rPr>
              <a:t>Exogenous regressors vs. endogenous feedback</a:t>
            </a:r>
            <a:endParaRPr lang="en-GB" noProof="0">
              <a:cs typeface="Arial"/>
            </a:endParaRPr>
          </a:p>
          <a:p>
            <a:pPr marL="269875" indent="-269875">
              <a:lnSpc>
                <a:spcPct val="200000"/>
              </a:lnSpc>
              <a:buFont typeface="Calibri" panose="020B0604020202020204" pitchFamily="34" charset="0"/>
              <a:buChar char="-"/>
            </a:pPr>
            <a:r>
              <a:rPr lang="en-GB">
                <a:cs typeface="Arial"/>
              </a:rPr>
              <a:t>(reduced form) Single Equation vs. Multivariate </a:t>
            </a:r>
            <a:r>
              <a:rPr lang="en-GB" err="1">
                <a:cs typeface="Arial"/>
              </a:rPr>
              <a:t>modeling</a:t>
            </a:r>
            <a:endParaRPr lang="en-GB">
              <a:cs typeface="Arial"/>
            </a:endParaRPr>
          </a:p>
          <a:p>
            <a:pPr marL="0" indent="0">
              <a:lnSpc>
                <a:spcPct val="200000"/>
              </a:lnSpc>
              <a:buNone/>
            </a:pPr>
            <a:endParaRPr lang="en-GB">
              <a:cs typeface="Arial"/>
            </a:endParaRPr>
          </a:p>
          <a:p>
            <a:pPr marL="0" indent="0">
              <a:lnSpc>
                <a:spcPct val="200000"/>
              </a:lnSpc>
              <a:buNone/>
            </a:pPr>
            <a:endParaRPr lang="en-GB" noProof="0">
              <a:cs typeface="Arial"/>
            </a:endParaRPr>
          </a:p>
          <a:p>
            <a:pPr marL="0" indent="0">
              <a:lnSpc>
                <a:spcPct val="200000"/>
              </a:lnSpc>
              <a:spcBef>
                <a:spcPts val="1200"/>
              </a:spcBef>
              <a:buNone/>
            </a:pPr>
            <a:endParaRPr lang="en-GB" noProof="0">
              <a:cs typeface="Arial"/>
            </a:endParaRPr>
          </a:p>
          <a:p>
            <a:pPr marL="269875" indent="-269875">
              <a:lnSpc>
                <a:spcPct val="200000"/>
              </a:lnSpc>
              <a:buFont typeface="Calibri" panose="020B0604020202020204" pitchFamily="34" charset="0"/>
              <a:buChar char="-"/>
            </a:pPr>
            <a:endParaRPr lang="en-GB" noProof="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10055-39DA-2C78-8728-A3BF23E15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noProof="0" smtClean="0"/>
              <a:t>26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70494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9F861-7497-DFBF-84E2-6D631375C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8800" noProof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6245746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6F542-46A7-77AA-7941-D383A38CA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DF8DB2-0E24-81C8-9E66-853F7FF98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Results</a:t>
            </a:r>
            <a:br>
              <a:rPr lang="en-GB" noProof="0"/>
            </a:br>
            <a:endParaRPr lang="en-GB" noProof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802CDB-A62C-789D-7C6B-03AC6ED5C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69875" indent="-269875">
              <a:lnSpc>
                <a:spcPct val="300000"/>
              </a:lnSpc>
            </a:pPr>
            <a:r>
              <a:rPr lang="en-GB" noProof="0"/>
              <a:t>Forecast Evaluation</a:t>
            </a:r>
          </a:p>
          <a:p>
            <a:pPr marL="269875" indent="-269875">
              <a:lnSpc>
                <a:spcPct val="300000"/>
              </a:lnSpc>
            </a:pPr>
            <a:r>
              <a:rPr lang="en-GB" noProof="0">
                <a:cs typeface="Arial"/>
              </a:rPr>
              <a:t>Economic Indicators</a:t>
            </a:r>
          </a:p>
          <a:p>
            <a:pPr marL="269875" indent="-269875">
              <a:lnSpc>
                <a:spcPct val="300000"/>
              </a:lnSpc>
            </a:pPr>
            <a:r>
              <a:rPr lang="en-GB">
                <a:cs typeface="Arial"/>
              </a:rPr>
              <a:t>Forecasts</a:t>
            </a:r>
            <a:endParaRPr lang="en-GB" noProof="0"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190ED4-03BF-5E27-43CC-11C1D9526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noProof="0" smtClean="0"/>
              <a:t>28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403352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E017B-C9B1-D85E-EFD0-588B8C97C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Forecast Evaluation</a:t>
            </a:r>
          </a:p>
        </p:txBody>
      </p:sp>
    </p:spTree>
    <p:extLst>
      <p:ext uri="{BB962C8B-B14F-4D97-AF65-F5344CB8AC3E}">
        <p14:creationId xmlns:p14="http://schemas.microsoft.com/office/powerpoint/2010/main" val="20995978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9A050-7F94-379D-91F1-6FE2AB79C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B66FCF-2F3C-4BB1-32B8-7F714C678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Forecast Evaluation – Cross-Validation </a:t>
            </a:r>
            <a:br>
              <a:rPr lang="en-GB" noProof="0"/>
            </a:br>
            <a:endParaRPr lang="en-GB" noProof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83BDE4-A03E-3681-4322-8AA28C68B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69875" indent="-269875">
              <a:lnSpc>
                <a:spcPct val="150000"/>
              </a:lnSpc>
              <a:spcBef>
                <a:spcPts val="1600"/>
              </a:spcBef>
            </a:pPr>
            <a:r>
              <a:rPr lang="en-GB" b="1" noProof="0">
                <a:cs typeface="Arial"/>
              </a:rPr>
              <a:t>Expanding</a:t>
            </a:r>
            <a:r>
              <a:rPr lang="en-GB" noProof="0">
                <a:cs typeface="Arial"/>
              </a:rPr>
              <a:t> window </a:t>
            </a:r>
          </a:p>
          <a:p>
            <a:pPr marL="269875" indent="-269875">
              <a:lnSpc>
                <a:spcPct val="150000"/>
              </a:lnSpc>
              <a:spcBef>
                <a:spcPts val="1600"/>
              </a:spcBef>
            </a:pPr>
            <a:r>
              <a:rPr lang="en-GB" noProof="0">
                <a:cs typeface="Arial"/>
              </a:rPr>
              <a:t>Benchmark Model: </a:t>
            </a:r>
            <a:r>
              <a:rPr lang="en-GB" b="1" noProof="0">
                <a:cs typeface="Arial"/>
              </a:rPr>
              <a:t>AR(2)</a:t>
            </a:r>
          </a:p>
          <a:p>
            <a:pPr marL="269875" indent="-269875">
              <a:lnSpc>
                <a:spcPct val="150000"/>
              </a:lnSpc>
              <a:spcBef>
                <a:spcPts val="1600"/>
              </a:spcBef>
            </a:pPr>
            <a:r>
              <a:rPr lang="en-GB" noProof="0">
                <a:cs typeface="Arial"/>
              </a:rPr>
              <a:t>Number of Folds: </a:t>
            </a:r>
            <a:r>
              <a:rPr lang="en-GB" b="1" noProof="0">
                <a:cs typeface="Arial"/>
              </a:rPr>
              <a:t>20</a:t>
            </a:r>
          </a:p>
          <a:p>
            <a:pPr marL="269875" indent="-269875">
              <a:lnSpc>
                <a:spcPct val="150000"/>
              </a:lnSpc>
              <a:spcBef>
                <a:spcPts val="1600"/>
              </a:spcBef>
            </a:pPr>
            <a:r>
              <a:rPr lang="en-GB" noProof="0">
                <a:cs typeface="Arial"/>
              </a:rPr>
              <a:t>Horizons: </a:t>
            </a:r>
            <a:r>
              <a:rPr lang="en-GB" b="1" noProof="0">
                <a:cs typeface="Arial"/>
              </a:rPr>
              <a:t>1-step ahead </a:t>
            </a:r>
            <a:r>
              <a:rPr lang="en-GB" noProof="0">
                <a:cs typeface="Arial"/>
              </a:rPr>
              <a:t>(1 quarter), </a:t>
            </a:r>
            <a:r>
              <a:rPr lang="en-GB" b="1" noProof="0">
                <a:cs typeface="Arial"/>
              </a:rPr>
              <a:t>1-year ahead </a:t>
            </a:r>
            <a:r>
              <a:rPr lang="en-GB" noProof="0">
                <a:cs typeface="Arial"/>
              </a:rPr>
              <a:t>(4 quarters)</a:t>
            </a:r>
          </a:p>
          <a:p>
            <a:pPr marL="269875" indent="-269875">
              <a:lnSpc>
                <a:spcPct val="150000"/>
              </a:lnSpc>
              <a:spcBef>
                <a:spcPts val="1600"/>
              </a:spcBef>
            </a:pPr>
            <a:r>
              <a:rPr lang="en-GB" noProof="0">
                <a:cs typeface="Arial"/>
              </a:rPr>
              <a:t>Train/Validation data Points: </a:t>
            </a:r>
          </a:p>
          <a:p>
            <a:pPr marL="538038" lvl="1" indent="-269875">
              <a:lnSpc>
                <a:spcPct val="150000"/>
              </a:lnSpc>
              <a:spcBef>
                <a:spcPts val="400"/>
              </a:spcBef>
            </a:pPr>
            <a:r>
              <a:rPr lang="en-GB" noProof="0">
                <a:cs typeface="Arial"/>
              </a:rPr>
              <a:t>Training expands from 111 to 130 quarters (</a:t>
            </a:r>
            <a:r>
              <a:rPr lang="en-GB" b="1" noProof="0">
                <a:cs typeface="Arial"/>
              </a:rPr>
              <a:t>1992</a:t>
            </a:r>
            <a:r>
              <a:rPr lang="en-GB" noProof="0">
                <a:cs typeface="Arial"/>
              </a:rPr>
              <a:t> Q1–2019 Q3 through 1992 Q1–2024 Q2)</a:t>
            </a:r>
          </a:p>
          <a:p>
            <a:pPr marL="538038" lvl="1" indent="-269875">
              <a:lnSpc>
                <a:spcPct val="150000"/>
              </a:lnSpc>
              <a:spcBef>
                <a:spcPts val="400"/>
              </a:spcBef>
            </a:pPr>
            <a:r>
              <a:rPr lang="en-GB" noProof="0">
                <a:cs typeface="Arial"/>
              </a:rPr>
              <a:t>Validation = </a:t>
            </a:r>
            <a:r>
              <a:rPr lang="en-GB" b="1" noProof="0">
                <a:cs typeface="Arial"/>
              </a:rPr>
              <a:t>20 observations per variable/horizon </a:t>
            </a:r>
            <a:r>
              <a:rPr lang="en-GB" noProof="0">
                <a:cs typeface="Arial"/>
              </a:rPr>
              <a:t>(one per fold)</a:t>
            </a:r>
          </a:p>
          <a:p>
            <a:pPr marL="269875" indent="-269875">
              <a:lnSpc>
                <a:spcPct val="150000"/>
              </a:lnSpc>
              <a:spcBef>
                <a:spcPts val="1600"/>
              </a:spcBef>
            </a:pPr>
            <a:r>
              <a:rPr lang="en-GB" noProof="0">
                <a:cs typeface="Arial"/>
              </a:rPr>
              <a:t>Error Metrics: RMSE &amp; MSE </a:t>
            </a:r>
            <a:r>
              <a:rPr lang="en-GB" b="1" noProof="0">
                <a:cs typeface="Arial"/>
              </a:rPr>
              <a:t>per variable and extra monthly data</a:t>
            </a:r>
          </a:p>
          <a:p>
            <a:pPr marL="269875" indent="-269875">
              <a:lnSpc>
                <a:spcPct val="150000"/>
              </a:lnSpc>
              <a:spcBef>
                <a:spcPts val="1600"/>
              </a:spcBef>
            </a:pPr>
            <a:endParaRPr lang="en-GB" noProof="0"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887ECF-DE54-E6D5-5FF2-3D207314F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noProof="0" smtClean="0"/>
              <a:t>30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166956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703E8-A618-1D7D-C264-5B5417065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8AE543-BD88-78FF-ED05-DBFF6D5DC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8131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31AC3-C47D-BEE1-1489-1ADDA82E5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22D43D-0E47-607B-0BE8-4DD2EFD9F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0999"/>
            <a:ext cx="12192000" cy="609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2102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69750-D1C3-7104-D3DD-BFD02F8DC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51B67-1C66-FD6E-D243-99BAC8D59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Cross-Validation Summary</a:t>
            </a:r>
            <a:endParaRPr lang="en-US"/>
          </a:p>
        </p:txBody>
      </p:sp>
      <p:pic>
        <p:nvPicPr>
          <p:cNvPr id="5" name="Content Placeholder 4" descr="A screen shot of a graph&#10;&#10;AI-generated content may be incorrect.">
            <a:extLst>
              <a:ext uri="{FF2B5EF4-FFF2-40B4-BE49-F238E27FC236}">
                <a16:creationId xmlns:a16="http://schemas.microsoft.com/office/drawing/2014/main" id="{1FA7B654-B361-DA83-8F3D-F485BB6181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8080" y="850268"/>
            <a:ext cx="5931009" cy="574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9920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EF545-7D78-6E6F-B7C7-A6461AD4F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E68E1-85CC-016D-30C9-CBA7977CD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Cross-Validation Summary</a:t>
            </a:r>
            <a:endParaRPr lang="en-US"/>
          </a:p>
        </p:txBody>
      </p:sp>
      <p:pic>
        <p:nvPicPr>
          <p:cNvPr id="3" name="Picture 2" descr="A screen shot of a chart&#10;&#10;AI-generated content may be incorrect.">
            <a:extLst>
              <a:ext uri="{FF2B5EF4-FFF2-40B4-BE49-F238E27FC236}">
                <a16:creationId xmlns:a16="http://schemas.microsoft.com/office/drawing/2014/main" id="{5A96E4DF-2908-F985-689B-5ACD986F6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942" y="930413"/>
            <a:ext cx="5744117" cy="565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0196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E0BAF-F3C4-856C-0294-CF845ECD6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4AEA6-26B8-F23B-0E17-52203C93F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Cross-Validation Summary</a:t>
            </a:r>
            <a:endParaRPr lang="en-US"/>
          </a:p>
        </p:txBody>
      </p:sp>
      <p:pic>
        <p:nvPicPr>
          <p:cNvPr id="4" name="Picture 3" descr="A screen shot of a graph&#10;&#10;AI-generated content may be incorrect.">
            <a:extLst>
              <a:ext uri="{FF2B5EF4-FFF2-40B4-BE49-F238E27FC236}">
                <a16:creationId xmlns:a16="http://schemas.microsoft.com/office/drawing/2014/main" id="{7E3E3DD0-398A-07B3-ECCF-D0EC852DD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200" y="844826"/>
            <a:ext cx="5801600" cy="590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7430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E4279-9296-B827-CAE6-8FF7D22FA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4DAB4-EE32-3709-E680-E2232222F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Cross-Validation Summary</a:t>
            </a:r>
            <a:endParaRPr lang="en-US"/>
          </a:p>
        </p:txBody>
      </p:sp>
      <p:pic>
        <p:nvPicPr>
          <p:cNvPr id="3" name="Picture 2" descr="A screen shot of a chart&#10;&#10;AI-generated content may be incorrect.">
            <a:extLst>
              <a:ext uri="{FF2B5EF4-FFF2-40B4-BE49-F238E27FC236}">
                <a16:creationId xmlns:a16="http://schemas.microsoft.com/office/drawing/2014/main" id="{4E85A865-0B38-5297-CD11-1B1811CE0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642" y="902803"/>
            <a:ext cx="6084858" cy="586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9220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048F8-A408-AA54-F418-61F6062F9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2D4F-C6D4-8FBB-A330-7892A0EFC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Cross-Validation Summary</a:t>
            </a:r>
            <a:endParaRPr lang="en-US"/>
          </a:p>
        </p:txBody>
      </p:sp>
      <p:pic>
        <p:nvPicPr>
          <p:cNvPr id="4" name="Picture 3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842B1544-9E7A-0FDA-FF5B-4B2BCAFDA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922" y="789608"/>
            <a:ext cx="5917112" cy="589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4288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19DB7-98DB-0CE9-B33A-1C7F6F8B7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1BA12-CE4D-F7F9-C298-CD5477E31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Cross-Validation Summary</a:t>
            </a:r>
            <a:endParaRPr lang="en-US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CA9D6F17-67F0-E54F-3484-352341C52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371" y="789608"/>
            <a:ext cx="5961259" cy="590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3124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8797B-74DB-CA05-5363-9D9830E13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A1D6E-C6F0-7EC8-32A9-2CEFCF552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Cross-Validation Summary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1827FD-6709-7BF0-0618-2974860E8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805" y="791130"/>
            <a:ext cx="5989153" cy="5964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5443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CE14D-42C5-B731-C5A2-8908176F4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11E6D-2F01-267D-5799-23AD64B6C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Cross-Validation Summary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5B4E70-D45D-025E-2F4D-D25B3944C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805" y="791130"/>
            <a:ext cx="5989153" cy="5964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1765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60522-C829-9B47-14B8-DB2531F2E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EF2F2-6C90-05E9-1B32-4DB121DB5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Cross-Validation Summary</a:t>
            </a:r>
            <a:endParaRPr lang="en-US"/>
          </a:p>
        </p:txBody>
      </p:sp>
      <p:pic>
        <p:nvPicPr>
          <p:cNvPr id="4" name="Picture 3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02942CCF-0832-ACE2-5AA2-0CDFB24BE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592" y="779517"/>
            <a:ext cx="6100909" cy="591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7642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E84BA-DD9C-A875-0B05-10CC75562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8A1A1-4861-10F0-5286-575E7D6DE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Cross-Validation Summary</a:t>
            </a:r>
            <a:endParaRPr lang="en-US"/>
          </a:p>
        </p:txBody>
      </p:sp>
      <p:pic>
        <p:nvPicPr>
          <p:cNvPr id="5" name="Picture 4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F13B7DCA-30E0-91A3-2559-021790FA9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837" y="822738"/>
            <a:ext cx="5969282" cy="586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7856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765892-ACA9-5BF0-9B03-4DFB5CDCD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Economic Indicators</a:t>
            </a:r>
          </a:p>
        </p:txBody>
      </p:sp>
    </p:spTree>
    <p:extLst>
      <p:ext uri="{BB962C8B-B14F-4D97-AF65-F5344CB8AC3E}">
        <p14:creationId xmlns:p14="http://schemas.microsoft.com/office/powerpoint/2010/main" val="42031100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90DDA-B915-8505-28FD-8A700F15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5271ED-2EDA-FDCD-075E-F9A38FFC5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noProof="0" smtClean="0"/>
              <a:t>44</a:t>
            </a:fld>
            <a:endParaRPr lang="en-GB" noProof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6B39CF20-BFE7-3624-5B88-9B0C7F816A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16429"/>
            <a:ext cx="12192000" cy="5225142"/>
          </a:xfrm>
        </p:spPr>
      </p:pic>
    </p:spTree>
    <p:extLst>
      <p:ext uri="{BB962C8B-B14F-4D97-AF65-F5344CB8AC3E}">
        <p14:creationId xmlns:p14="http://schemas.microsoft.com/office/powerpoint/2010/main" val="10935134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E98C7-DE85-62F1-F279-D993FE420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A2BA0A-89C4-A44A-B009-9A1FAD81C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641" y="-3374"/>
            <a:ext cx="8576717" cy="686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4517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1D77895-1880-9C2D-8F4D-1B0767D31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939481-6509-9D35-99F6-0728F9605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99" y="0"/>
            <a:ext cx="7620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775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EAF9C-C106-DDBC-5906-09583EFED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DD85DD-9FF9-9736-169D-CC6D0FE69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16422"/>
            <a:ext cx="12191993" cy="52251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254531-B43D-D06E-1ACF-C4DB51F7B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" y="816416"/>
            <a:ext cx="12191991" cy="52251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2B9DBF-B813-ECC1-1720-2061E20CC5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" y="816426"/>
            <a:ext cx="12191998" cy="5225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67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82D7E-A842-6E83-F692-B7D7932CC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B2041-93B6-0E0A-715F-473A102E8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noProof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20B3F2-42C1-3501-6226-D64F89C7A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16429"/>
            <a:ext cx="12192000" cy="52251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4EF081-4654-31CC-F899-669CAF9A8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16" y="960946"/>
            <a:ext cx="12192000" cy="522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2745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BD23C-6346-1560-0A40-F2229BFC9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Forecasts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964C6E-7782-D326-8FFB-08BE647F6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noProof="0" smtClean="0"/>
              <a:t>49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600503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FDFC8E7-A4F7-CDB8-56C8-F35ECB1D9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BF0D11-9E4F-F3B9-5F29-A402FE48A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6429"/>
            <a:ext cx="12192000" cy="522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5849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0E888-E115-EFE6-518A-0B9FD0069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C87048-40DB-2E41-B57A-B0E660284C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16429"/>
            <a:ext cx="12192000" cy="5225142"/>
          </a:xfrm>
        </p:spPr>
      </p:pic>
    </p:spTree>
    <p:extLst>
      <p:ext uri="{BB962C8B-B14F-4D97-AF65-F5344CB8AC3E}">
        <p14:creationId xmlns:p14="http://schemas.microsoft.com/office/powerpoint/2010/main" val="2569435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EA20D-102B-1866-D912-073CD0AEB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B9584E-DC1C-9D46-CB7A-09A391AF84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16429"/>
            <a:ext cx="12192000" cy="5225142"/>
          </a:xfrm>
        </p:spPr>
      </p:pic>
    </p:spTree>
    <p:extLst>
      <p:ext uri="{BB962C8B-B14F-4D97-AF65-F5344CB8AC3E}">
        <p14:creationId xmlns:p14="http://schemas.microsoft.com/office/powerpoint/2010/main" val="13572605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55D0D-5A61-0E01-6FCA-94CB24BB8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SECO GDP Flash: </a:t>
            </a:r>
            <a:r>
              <a:rPr lang="en-GB" b="1" noProof="0"/>
              <a:t>-0.5%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7B2310-E53E-CF8B-CC84-E1BA905A14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69781" y="1412875"/>
            <a:ext cx="7252438" cy="467995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A596F5-0915-0189-466C-2621AABD5FED}"/>
              </a:ext>
            </a:extLst>
          </p:cNvPr>
          <p:cNvSpPr txBox="1"/>
          <p:nvPr/>
        </p:nvSpPr>
        <p:spPr>
          <a:xfrm>
            <a:off x="1863700" y="6459149"/>
            <a:ext cx="81948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noProof="0"/>
              <a:t>Source: https://</a:t>
            </a:r>
            <a:r>
              <a:rPr lang="en-GB" sz="1000" noProof="0" err="1"/>
              <a:t>www.seco.admin.ch</a:t>
            </a:r>
            <a:r>
              <a:rPr lang="en-GB" sz="1000" noProof="0"/>
              <a:t>/seco/</a:t>
            </a:r>
            <a:r>
              <a:rPr lang="en-GB" sz="1000" noProof="0" err="1"/>
              <a:t>en</a:t>
            </a:r>
            <a:r>
              <a:rPr lang="en-GB" sz="1000" noProof="0"/>
              <a:t>/home/</a:t>
            </a:r>
            <a:r>
              <a:rPr lang="en-GB" sz="1000" noProof="0" err="1"/>
              <a:t>wirtschaftslage</a:t>
            </a:r>
            <a:r>
              <a:rPr lang="en-GB" sz="1000" noProof="0"/>
              <a:t>---</a:t>
            </a:r>
            <a:r>
              <a:rPr lang="en-GB" sz="1000" noProof="0" err="1"/>
              <a:t>wirtschaftspolitik</a:t>
            </a:r>
            <a:r>
              <a:rPr lang="en-GB" sz="1000" noProof="0"/>
              <a:t>/</a:t>
            </a:r>
            <a:r>
              <a:rPr lang="en-GB" sz="1000" noProof="0" err="1"/>
              <a:t>Wirtschaftslage</a:t>
            </a:r>
            <a:r>
              <a:rPr lang="en-GB" sz="1000" noProof="0"/>
              <a:t>/</a:t>
            </a:r>
            <a:r>
              <a:rPr lang="en-GB" sz="1000" noProof="0" err="1"/>
              <a:t>bip-quartalsschaetzungen</a:t>
            </a:r>
            <a:r>
              <a:rPr lang="en-GB" sz="1000" noProof="0"/>
              <a:t>-/flash-</a:t>
            </a:r>
            <a:r>
              <a:rPr lang="en-GB" sz="1000" noProof="0" err="1"/>
              <a:t>bip.html</a:t>
            </a:r>
            <a:endParaRPr lang="en-GB" sz="1000" noProof="0"/>
          </a:p>
        </p:txBody>
      </p:sp>
    </p:spTree>
    <p:extLst>
      <p:ext uri="{BB962C8B-B14F-4D97-AF65-F5344CB8AC3E}">
        <p14:creationId xmlns:p14="http://schemas.microsoft.com/office/powerpoint/2010/main" val="23035222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F50D2-FCBA-D4D7-C091-781F14042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0"/>
            <a:ext cx="11020281" cy="5994400"/>
          </a:xfrm>
        </p:spPr>
        <p:txBody>
          <a:bodyPr anchor="ctr"/>
          <a:lstStyle/>
          <a:p>
            <a:r>
              <a:rPr lang="en-GB" sz="8800" noProof="0"/>
              <a:t>Interpretation &amp; </a:t>
            </a:r>
            <a:br>
              <a:rPr lang="en-GB" sz="8800" noProof="0"/>
            </a:br>
            <a:r>
              <a:rPr lang="en-GB" sz="8800" noProof="0"/>
              <a:t>Takeaways </a:t>
            </a:r>
            <a:endParaRPr lang="en-GB" sz="8800" noProof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0827204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F7130-000A-4E4E-B48C-9DFD1CCB7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00BE7B-B2AE-0F7A-39EC-080306B1D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Results Interpretation</a:t>
            </a:r>
            <a:br>
              <a:rPr lang="en-GB" noProof="0"/>
            </a:br>
            <a:endParaRPr lang="en-GB" noProof="0">
              <a:cs typeface="Arial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0959001-F2AE-33C1-FD76-27850BDE9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69875" indent="-269875">
              <a:lnSpc>
                <a:spcPct val="250000"/>
              </a:lnSpc>
            </a:pPr>
            <a:r>
              <a:rPr lang="en-GB"/>
              <a:t>GDP Growth → Mixed Results </a:t>
            </a:r>
          </a:p>
          <a:p>
            <a:pPr marL="269875" indent="-269875">
              <a:lnSpc>
                <a:spcPct val="250000"/>
              </a:lnSpc>
            </a:pPr>
            <a:r>
              <a:rPr lang="en-GB">
                <a:cs typeface="Arial"/>
              </a:rPr>
              <a:t>Exchange Rate → AR(2) and MIDAS with Latent State</a:t>
            </a:r>
          </a:p>
          <a:p>
            <a:pPr marL="269875" indent="-269875">
              <a:lnSpc>
                <a:spcPct val="250000"/>
              </a:lnSpc>
            </a:pPr>
            <a:r>
              <a:rPr lang="en-GB">
                <a:cs typeface="Arial"/>
              </a:rPr>
              <a:t>Inflation → AR(2) and MIDAS </a:t>
            </a:r>
            <a:endParaRPr lang="en-US">
              <a:cs typeface="Arial"/>
            </a:endParaRPr>
          </a:p>
          <a:p>
            <a:pPr marL="269875" indent="-269875">
              <a:lnSpc>
                <a:spcPct val="250000"/>
              </a:lnSpc>
            </a:pPr>
            <a:endParaRPr lang="en-GB">
              <a:cs typeface="Arial"/>
            </a:endParaRPr>
          </a:p>
          <a:p>
            <a:pPr marL="269875" indent="-269875">
              <a:lnSpc>
                <a:spcPct val="250000"/>
              </a:lnSpc>
            </a:pPr>
            <a:endParaRPr lang="en-GB">
              <a:cs typeface="Arial"/>
            </a:endParaRPr>
          </a:p>
          <a:p>
            <a:pPr marL="269875" indent="-269875">
              <a:lnSpc>
                <a:spcPct val="250000"/>
              </a:lnSpc>
            </a:pPr>
            <a:endParaRPr lang="en-GB">
              <a:cs typeface="Arial"/>
            </a:endParaRPr>
          </a:p>
          <a:p>
            <a:pPr marL="269875" indent="-269875">
              <a:lnSpc>
                <a:spcPct val="250000"/>
              </a:lnSpc>
            </a:pPr>
            <a:endParaRPr lang="en-GB"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73EAAA-FB93-6C61-4A3E-66DAD079F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noProof="0" smtClean="0"/>
              <a:t>55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961532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91F9C-7FD7-8619-8C1B-79556B287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219723-F5AD-02A1-3CAA-FEF08567E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Interpretation</a:t>
            </a:r>
            <a:br>
              <a:rPr lang="en-GB" noProof="0"/>
            </a:br>
            <a:endParaRPr lang="en-GB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06411B-7290-3BB7-AB5D-041BD99F2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50000"/>
              </a:lnSpc>
            </a:pPr>
            <a:r>
              <a:rPr lang="en-GB"/>
              <a:t>Monthly data → latent state </a:t>
            </a:r>
            <a:r>
              <a:rPr lang="en-GB" b="1"/>
              <a:t>monthly index</a:t>
            </a:r>
            <a:r>
              <a:rPr lang="en-GB"/>
              <a:t> </a:t>
            </a:r>
          </a:p>
          <a:p>
            <a:pPr>
              <a:lnSpc>
                <a:spcPct val="250000"/>
              </a:lnSpc>
            </a:pPr>
            <a:r>
              <a:rPr lang="en-GB"/>
              <a:t>Indexes track </a:t>
            </a:r>
            <a:r>
              <a:rPr lang="en-GB" b="1"/>
              <a:t>quarterly GDP, inflation, and exchange rate</a:t>
            </a:r>
            <a:r>
              <a:rPr lang="en-GB"/>
              <a:t> </a:t>
            </a:r>
          </a:p>
          <a:p>
            <a:pPr>
              <a:lnSpc>
                <a:spcPct val="250000"/>
              </a:lnSpc>
            </a:pPr>
            <a:r>
              <a:rPr lang="en-GB"/>
              <a:t>MF-VAR states act as </a:t>
            </a:r>
            <a:r>
              <a:rPr lang="en-GB" b="1"/>
              <a:t>“shadow” high-frequency series</a:t>
            </a:r>
            <a:r>
              <a:rPr lang="en-GB"/>
              <a:t>: (smoother) but with same turning points</a:t>
            </a:r>
          </a:p>
          <a:p>
            <a:pPr>
              <a:lnSpc>
                <a:spcPct val="250000"/>
              </a:lnSpc>
            </a:pPr>
            <a:r>
              <a:rPr lang="en-GB"/>
              <a:t>2025–26 forecasts: </a:t>
            </a:r>
            <a:r>
              <a:rPr lang="en-GB" b="1"/>
              <a:t>GDP dip then recovery</a:t>
            </a:r>
            <a:r>
              <a:rPr lang="en-GB"/>
              <a:t>, </a:t>
            </a:r>
            <a:r>
              <a:rPr lang="en-GB" b="1"/>
              <a:t>steady-</a:t>
            </a:r>
            <a:r>
              <a:rPr lang="en-GB" b="1" err="1"/>
              <a:t>ish</a:t>
            </a:r>
            <a:r>
              <a:rPr lang="en-GB" b="1"/>
              <a:t> inflation</a:t>
            </a:r>
            <a:r>
              <a:rPr lang="en-GB"/>
              <a:t>, </a:t>
            </a:r>
            <a:r>
              <a:rPr lang="en-GB" b="1"/>
              <a:t>high FX uncertainty</a:t>
            </a:r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05D0C4-C1A4-8D22-4485-C89CBC43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noProof="0" smtClean="0"/>
              <a:t>56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7864284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3226F-3203-B1FE-4674-4F2751B35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Policy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E4812-950F-3BC6-7B38-74FB4EA39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69875" indent="-269875">
              <a:lnSpc>
                <a:spcPct val="150000"/>
              </a:lnSpc>
            </a:pPr>
            <a:r>
              <a:rPr lang="en-GB"/>
              <a:t>Mixed-frequency methods are </a:t>
            </a:r>
            <a:r>
              <a:rPr lang="en-GB" b="1"/>
              <a:t>useful real-time tools</a:t>
            </a:r>
            <a:r>
              <a:rPr lang="en-GB"/>
              <a:t> for nowcasting</a:t>
            </a:r>
            <a:endParaRPr lang="en-US"/>
          </a:p>
          <a:p>
            <a:pPr marL="269875" indent="-269875">
              <a:lnSpc>
                <a:spcPct val="150000"/>
              </a:lnSpc>
            </a:pPr>
            <a:r>
              <a:rPr lang="en-GB" b="1"/>
              <a:t>Simple MIDAS</a:t>
            </a:r>
            <a:r>
              <a:rPr lang="en-GB"/>
              <a:t> (with MF-VAR states) ≈ or &gt; full MF-VAR in forecast performance</a:t>
            </a:r>
            <a:endParaRPr lang="en-GB">
              <a:cs typeface="Arial"/>
            </a:endParaRPr>
          </a:p>
          <a:p>
            <a:pPr marL="269875" indent="-269875">
              <a:lnSpc>
                <a:spcPct val="150000"/>
              </a:lnSpc>
            </a:pPr>
            <a:r>
              <a:rPr lang="en-GB" b="1"/>
              <a:t>Over-parameterised models can fail badly</a:t>
            </a:r>
            <a:r>
              <a:rPr lang="en-GB"/>
              <a:t> despite good in-sample fit</a:t>
            </a:r>
            <a:endParaRPr lang="en-GB">
              <a:cs typeface="Arial"/>
            </a:endParaRPr>
          </a:p>
          <a:p>
            <a:pPr marL="269875" indent="-269875">
              <a:lnSpc>
                <a:spcPct val="150000"/>
              </a:lnSpc>
            </a:pPr>
            <a:r>
              <a:rPr lang="en-GB"/>
              <a:t>Forecast gains are </a:t>
            </a:r>
            <a:r>
              <a:rPr lang="en-GB" b="1"/>
              <a:t>uneven across variables</a:t>
            </a:r>
            <a:r>
              <a:rPr lang="en-GB"/>
              <a:t>: real activity &amp; prices benefit more than FX</a:t>
            </a:r>
            <a:endParaRPr lang="en-GB">
              <a:cs typeface="Arial"/>
            </a:endParaRPr>
          </a:p>
          <a:p>
            <a:pPr marL="269875" indent="-269875">
              <a:lnSpc>
                <a:spcPct val="150000"/>
              </a:lnSpc>
            </a:pPr>
            <a:r>
              <a:rPr lang="en-GB" b="1"/>
              <a:t>Exchange-rate forecasts remain unreliable</a:t>
            </a:r>
            <a:r>
              <a:rPr lang="en-GB"/>
              <a:t> → policy should be cautious with FX point forecasts</a:t>
            </a:r>
            <a:endParaRPr lang="en-GB">
              <a:cs typeface="Arial"/>
            </a:endParaRPr>
          </a:p>
          <a:p>
            <a:pPr marL="269875" indent="-269875">
              <a:lnSpc>
                <a:spcPct val="150000"/>
              </a:lnSpc>
            </a:pPr>
            <a:r>
              <a:rPr lang="en-GB" b="1"/>
              <a:t>Model risk is sizeable</a:t>
            </a:r>
            <a:r>
              <a:rPr lang="en-GB"/>
              <a:t>: results depend on model choice and priors; real-time errors can be large</a:t>
            </a:r>
            <a:endParaRPr lang="en-GB">
              <a:cs typeface="Arial"/>
            </a:endParaRPr>
          </a:p>
          <a:p>
            <a:pPr marL="269875" indent="-269875">
              <a:lnSpc>
                <a:spcPct val="150000"/>
              </a:lnSpc>
            </a:pPr>
            <a:r>
              <a:rPr lang="en-GB"/>
              <a:t>Best use: as part of a </a:t>
            </a:r>
            <a:r>
              <a:rPr lang="en-GB" b="1"/>
              <a:t>model ensemble</a:t>
            </a:r>
            <a:r>
              <a:rPr lang="en-GB"/>
              <a:t>, combined with judgement and other tools, not a mechanical rule</a:t>
            </a:r>
            <a:endParaRPr lang="en-GB">
              <a:cs typeface="Arial"/>
            </a:endParaRPr>
          </a:p>
          <a:p>
            <a:pPr marL="269875" indent="-269875">
              <a:lnSpc>
                <a:spcPct val="150000"/>
              </a:lnSpc>
            </a:pPr>
            <a:endParaRPr lang="en-GB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9504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6FC7C-CB6E-5AE1-07AB-8867A6848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4EDB7-27A4-09AC-6FF0-E887C0941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Outlook</a:t>
            </a:r>
            <a:br>
              <a:rPr lang="en-GB" noProof="0"/>
            </a:b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6A208-A9E8-B4E5-D1B3-291581D22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69875" indent="-269875">
              <a:lnSpc>
                <a:spcPct val="200000"/>
              </a:lnSpc>
            </a:pPr>
            <a:r>
              <a:rPr lang="en-GB" noProof="0">
                <a:cs typeface="Arial"/>
              </a:rPr>
              <a:t>Improve </a:t>
            </a:r>
            <a:r>
              <a:rPr lang="en-GB" b="1" noProof="0">
                <a:cs typeface="Arial"/>
              </a:rPr>
              <a:t>Latent Space Accuracy </a:t>
            </a:r>
            <a:r>
              <a:rPr lang="en-GB" noProof="0">
                <a:cs typeface="Arial"/>
              </a:rPr>
              <a:t>(for MIDAS)</a:t>
            </a:r>
          </a:p>
          <a:p>
            <a:pPr marL="269875" indent="-269875">
              <a:lnSpc>
                <a:spcPct val="200000"/>
              </a:lnSpc>
            </a:pPr>
            <a:r>
              <a:rPr lang="en-GB" noProof="0">
                <a:cs typeface="Arial"/>
              </a:rPr>
              <a:t>Include </a:t>
            </a:r>
            <a:r>
              <a:rPr lang="en-GB" b="1" noProof="0">
                <a:cs typeface="Arial"/>
              </a:rPr>
              <a:t>more relevant time series </a:t>
            </a:r>
            <a:r>
              <a:rPr lang="en-GB" noProof="0">
                <a:cs typeface="Arial"/>
              </a:rPr>
              <a:t>(</a:t>
            </a:r>
            <a:r>
              <a:rPr lang="en-GB" noProof="0" err="1">
                <a:cs typeface="Arial"/>
              </a:rPr>
              <a:t>snboffzisa</a:t>
            </a:r>
            <a:r>
              <a:rPr lang="en-GB" noProof="0">
                <a:cs typeface="Arial"/>
              </a:rPr>
              <a:t>, etc.)</a:t>
            </a:r>
          </a:p>
          <a:p>
            <a:pPr marL="269875" indent="-269875">
              <a:lnSpc>
                <a:spcPct val="200000"/>
              </a:lnSpc>
            </a:pPr>
            <a:r>
              <a:rPr lang="en-GB" b="1" noProof="0">
                <a:cs typeface="Arial"/>
              </a:rPr>
              <a:t>Shift</a:t>
            </a:r>
            <a:r>
              <a:rPr lang="en-GB" noProof="0">
                <a:cs typeface="Arial"/>
              </a:rPr>
              <a:t> publication </a:t>
            </a:r>
            <a:r>
              <a:rPr lang="en-GB" b="1" noProof="0">
                <a:cs typeface="Arial"/>
              </a:rPr>
              <a:t>date</a:t>
            </a:r>
            <a:r>
              <a:rPr lang="en-GB" noProof="0">
                <a:cs typeface="Arial"/>
              </a:rPr>
              <a:t> more in-front for GDP-growth</a:t>
            </a:r>
            <a:endParaRPr lang="en-GB" noProof="0"/>
          </a:p>
          <a:p>
            <a:pPr marL="269875" indent="-269875">
              <a:lnSpc>
                <a:spcPct val="200000"/>
              </a:lnSpc>
            </a:pPr>
            <a:r>
              <a:rPr lang="en-GB" noProof="0"/>
              <a:t>Include </a:t>
            </a:r>
            <a:r>
              <a:rPr lang="en-GB" b="1" noProof="0"/>
              <a:t>Vintages</a:t>
            </a:r>
            <a:r>
              <a:rPr lang="en-GB" noProof="0"/>
              <a:t> for more accurate Forecast Evaluations</a:t>
            </a:r>
            <a:endParaRPr lang="en-GB" noProof="0">
              <a:cs typeface="Arial"/>
            </a:endParaRPr>
          </a:p>
          <a:p>
            <a:pPr marL="269875" indent="-269875">
              <a:lnSpc>
                <a:spcPct val="200000"/>
              </a:lnSpc>
            </a:pPr>
            <a:r>
              <a:rPr lang="en-GB">
                <a:cs typeface="Arial"/>
              </a:rPr>
              <a:t>U</a:t>
            </a:r>
            <a:r>
              <a:rPr lang="en-GB" noProof="0">
                <a:cs typeface="Arial"/>
              </a:rPr>
              <a:t>se {</a:t>
            </a:r>
            <a:r>
              <a:rPr lang="en-GB" noProof="0" err="1">
                <a:cs typeface="Arial"/>
              </a:rPr>
              <a:t>rumidas</a:t>
            </a:r>
            <a:r>
              <a:rPr lang="en-GB" noProof="0">
                <a:cs typeface="Arial"/>
              </a:rPr>
              <a:t>} R package for </a:t>
            </a:r>
            <a:r>
              <a:rPr lang="en-GB" b="1" noProof="0">
                <a:cs typeface="Arial"/>
              </a:rPr>
              <a:t>volatility forecasts</a:t>
            </a:r>
          </a:p>
          <a:p>
            <a:pPr marL="0" indent="0">
              <a:lnSpc>
                <a:spcPct val="200000"/>
              </a:lnSpc>
              <a:buNone/>
            </a:pPr>
            <a:endParaRPr lang="en-GB" noProof="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05A0F-D0E5-19F3-C3CA-C0A5C3E8B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noProof="0" smtClean="0"/>
              <a:t>58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463988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6EB4A-C1C7-B2A9-6556-5188A04DF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Our GitHub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09C33-3F4F-91AB-052F-6896B97AC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69875" indent="-269875">
              <a:lnSpc>
                <a:spcPct val="200000"/>
              </a:lnSpc>
            </a:pPr>
            <a:r>
              <a:rPr lang="en-GB" noProof="0">
                <a:hlinkClick r:id="rId2"/>
              </a:rPr>
              <a:t>https://github.com/mddudko/methods-for-macro-forecasting-2025/tree/main/submission</a:t>
            </a:r>
            <a:r>
              <a:rPr lang="en-GB" noProof="0"/>
              <a:t> </a:t>
            </a:r>
          </a:p>
          <a:p>
            <a:pPr marL="269875" indent="-269875">
              <a:lnSpc>
                <a:spcPct val="200000"/>
              </a:lnSpc>
            </a:pPr>
            <a:r>
              <a:rPr lang="en-GB" noProof="0"/>
              <a:t>To reproduce, follow the instructions in our </a:t>
            </a:r>
            <a:r>
              <a:rPr lang="en-GB" noProof="0" err="1"/>
              <a:t>README.md</a:t>
            </a:r>
            <a:r>
              <a:rPr lang="en-GB" noProof="0"/>
              <a:t> file</a:t>
            </a:r>
            <a:endParaRPr lang="en-GB" noProof="0">
              <a:cs typeface="Arial"/>
            </a:endParaRPr>
          </a:p>
          <a:p>
            <a:pPr marL="269875" indent="-269875">
              <a:lnSpc>
                <a:spcPct val="200000"/>
              </a:lnSpc>
            </a:pPr>
            <a:endParaRPr lang="en-GB" noProof="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679AB-8BD5-7876-3C54-C88DB5BC2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noProof="0" smtClean="0"/>
              <a:t>59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035778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15619-42AE-C70F-881B-35643FC51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6000" noProof="0"/>
              <a:t>Thank you 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31277982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4A1C8-1FCD-0370-D122-A083E1D7D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2D691-1B17-6221-E764-DE1FA4107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0"/>
            <a:ext cx="11020281" cy="5994400"/>
          </a:xfrm>
        </p:spPr>
        <p:txBody>
          <a:bodyPr anchor="ctr"/>
          <a:lstStyle/>
          <a:p>
            <a:r>
              <a:rPr lang="en-GB" sz="8800" noProof="0"/>
              <a:t>Appendix</a:t>
            </a:r>
            <a:br>
              <a:rPr lang="en-GB" sz="8800" noProof="0"/>
            </a:b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780285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BAF12-AC6F-AE2A-B534-732869211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BEBFA-DC14-7928-92D5-D287AD7CC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Appendix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A960E5-0340-C4DC-0425-0CE01AF2D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499" y="-1"/>
            <a:ext cx="9715502" cy="685800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067C21-D4F1-5F5A-BF1F-6117E70A0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noProof="0" smtClean="0"/>
              <a:t>62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400237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88071-E852-D0C3-B404-FA78CF3B8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Appendix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B5CE006-28F5-3D36-E6C8-4230FDA704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6502" y="0"/>
            <a:ext cx="9715499" cy="6858000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6127D5-C0CB-426A-3316-9113D8A64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noProof="0" smtClean="0"/>
              <a:t>63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5878152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699CF-AA09-D2D7-6B19-13A7AA8B7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DFB62-236D-83A8-E77E-F1B593869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Appendix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CD9CEE2-DC43-7157-4CDD-C62F7FAAC5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6501" y="0"/>
            <a:ext cx="9715500" cy="6858000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1A78FD-B118-3AC8-ED34-B0D73106D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2E8-1445-9A45-BA3B-6E6115BBC6D4}" type="slidenum">
              <a:rPr lang="en-GB" noProof="0" smtClean="0"/>
              <a:t>64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7474389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71237-30C8-D169-A5ED-4D51E3FBD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FDEFE8-295F-8821-4B3A-E2B79D522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44240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35805-8C6E-3A83-8D10-A2D9B454F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0F203D-C3EA-1386-B7BF-E0D496BD7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943688"/>
      </p:ext>
    </p:extLst>
  </p:cSld>
  <p:clrMapOvr>
    <a:masterClrMapping/>
  </p:clrMapOvr>
</p:sld>
</file>

<file path=ppt/theme/theme1.xml><?xml version="1.0" encoding="utf-8"?>
<a:theme xmlns:a="http://schemas.openxmlformats.org/drawingml/2006/main" name="ETH Zürich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Präsentation3" id="{9C84984C-18ED-5E49-A574-15FF8A3954B8}" vid="{0B390235-9264-874C-ABEB-5D2188FC23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eth_pp_praesentation_ohne_klassifizierung</Template>
  <TotalTime>0</TotalTime>
  <Words>854</Words>
  <Application>Microsoft Macintosh PowerPoint</Application>
  <PresentationFormat>Widescreen</PresentationFormat>
  <Paragraphs>192</Paragraphs>
  <Slides>66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1" baseType="lpstr">
      <vt:lpstr>Aptos</vt:lpstr>
      <vt:lpstr>Arial</vt:lpstr>
      <vt:lpstr>Calibri</vt:lpstr>
      <vt:lpstr>Symbol</vt:lpstr>
      <vt:lpstr>ETH Zürich</vt:lpstr>
      <vt:lpstr>Mixed-Frequency Forecasting MIDAS vs MF-VAR</vt:lpstr>
      <vt:lpstr>PowerPoint Presentation</vt:lpstr>
      <vt:lpstr>Problem &amp;  Approach</vt:lpstr>
      <vt:lpstr>Motivation: Why mixed-frequency data?</vt:lpstr>
      <vt:lpstr>Question: MIDAS vs. MF-VAR </vt:lpstr>
      <vt:lpstr>Data &amp;  Methodology</vt:lpstr>
      <vt:lpstr>Data </vt:lpstr>
      <vt:lpstr>Methodology </vt:lpstr>
      <vt:lpstr>MIDAS</vt:lpstr>
      <vt:lpstr>Methodology: MIDAS</vt:lpstr>
      <vt:lpstr>Methodology: MIDAS</vt:lpstr>
      <vt:lpstr>Methodology: MIDAS – Final Models </vt:lpstr>
      <vt:lpstr>Methodology: MIDAS Continued</vt:lpstr>
      <vt:lpstr>MF-VAR</vt:lpstr>
      <vt:lpstr>MF-VAR: Purpose and Core Structure</vt:lpstr>
      <vt:lpstr>MF-VAR: State Representation</vt:lpstr>
      <vt:lpstr>MF-VAR: Measurement System</vt:lpstr>
      <vt:lpstr>MF-VAR: Bayesian Estimation and Minnesota Prior</vt:lpstr>
      <vt:lpstr>MF-VAR: Bayesian Estimation and Minnesota Prior</vt:lpstr>
      <vt:lpstr>MF-VAR: Hyperparameter Selection through the Marginal Data Density</vt:lpstr>
      <vt:lpstr>MF-VAR: Hyperparameter Selection through the Marginal Data Density</vt:lpstr>
      <vt:lpstr>MF-VAR: Forecasting</vt:lpstr>
      <vt:lpstr>Methodology: MF-VAR Manual Implementation</vt:lpstr>
      <vt:lpstr>Methodology: MF-VAR Package</vt:lpstr>
      <vt:lpstr>Methodology: MF-VAR Manual Implementation</vt:lpstr>
      <vt:lpstr>MIDAS vs MF-VAR</vt:lpstr>
      <vt:lpstr>Results</vt:lpstr>
      <vt:lpstr>Results </vt:lpstr>
      <vt:lpstr>Forecast Evaluation</vt:lpstr>
      <vt:lpstr>Forecast Evaluation – Cross-Validation  </vt:lpstr>
      <vt:lpstr>PowerPoint Presentation</vt:lpstr>
      <vt:lpstr>PowerPoint Presentation</vt:lpstr>
      <vt:lpstr>Cross-Validation Summary</vt:lpstr>
      <vt:lpstr>Cross-Validation Summary</vt:lpstr>
      <vt:lpstr>Cross-Validation Summary</vt:lpstr>
      <vt:lpstr>Cross-Validation Summary</vt:lpstr>
      <vt:lpstr>Cross-Validation Summary</vt:lpstr>
      <vt:lpstr>Cross-Validation Summary</vt:lpstr>
      <vt:lpstr>Cross-Validation Summary</vt:lpstr>
      <vt:lpstr>Cross-Validation Summary</vt:lpstr>
      <vt:lpstr>Cross-Validation Summary</vt:lpstr>
      <vt:lpstr>Cross-Validation Summary</vt:lpstr>
      <vt:lpstr>Economic Indicators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Forecasts</vt:lpstr>
      <vt:lpstr>PowerPoint Presentation</vt:lpstr>
      <vt:lpstr>PowerPoint Presentation</vt:lpstr>
      <vt:lpstr>PowerPoint Presentation</vt:lpstr>
      <vt:lpstr>SECO GDP Flash: -0.5%</vt:lpstr>
      <vt:lpstr>Interpretation &amp;  Takeaways </vt:lpstr>
      <vt:lpstr>Results Interpretation </vt:lpstr>
      <vt:lpstr>Interpretation </vt:lpstr>
      <vt:lpstr>Policy Takeaways</vt:lpstr>
      <vt:lpstr>Outlook </vt:lpstr>
      <vt:lpstr>Our GitHub Repository</vt:lpstr>
      <vt:lpstr>Thank you for your attention!</vt:lpstr>
      <vt:lpstr>Appendix </vt:lpstr>
      <vt:lpstr>Appendix</vt:lpstr>
      <vt:lpstr>Appendix</vt:lpstr>
      <vt:lpstr>Appendix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Michal Dudko</dc:creator>
  <cp:lastModifiedBy>Dudko  Michal</cp:lastModifiedBy>
  <cp:revision>1</cp:revision>
  <dcterms:created xsi:type="dcterms:W3CDTF">2025-11-16T18:17:36Z</dcterms:created>
  <dcterms:modified xsi:type="dcterms:W3CDTF">2025-11-19T23:36:32Z</dcterms:modified>
</cp:coreProperties>
</file>